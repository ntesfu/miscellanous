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159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v4 + SAM3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B8C6D6"/>
                </a:solidFill>
                <a:latin typeface="Calibri"/>
              </a:rPr>
              <a:t>The best model, plus a SAM3 enrichment 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A9D9CE"/>
                </a:solidFill>
                <a:latin typeface="Calibri"/>
              </a:rPr>
              <a:t>v4 (Fusion + DiffAct) is our best architecture — F1@50 70.1.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D7E1EC"/>
                </a:solidFill>
                <a:latin typeface="Calibri"/>
              </a:rPr>
              <a:t>SAM3 is added on top: same accuracy, richer output (masks + component inventory).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B78B5"/>
                </a:solidFill>
                <a:latin typeface="Calibri"/>
              </a:rPr>
              <a:t>THE BEST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1F2733"/>
                </a:solidFill>
                <a:latin typeface="Calibri"/>
              </a:rPr>
              <a:t>v4 — our best architecture</a:t>
            </a:r>
          </a:p>
        </p:txBody>
      </p:sp>
      <p:pic>
        <p:nvPicPr>
          <p:cNvPr id="5" name="Picture 4" descr="architecture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49365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41732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F2733"/>
                </a:solidFill>
                <a:latin typeface="Calibri"/>
              </a:rPr>
              <a:t>The winner among all configs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574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F2733"/>
                </a:solidFill>
                <a:latin typeface="Calibri"/>
              </a:rPr>
              <a:t>•  Fusion backbone (frozen): VideoMAEv2-giant + InternVideo2-B14  →  2176-d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F2733"/>
                </a:solidFill>
                <a:latin typeface="Calibri"/>
              </a:rPr>
              <a:t>•  DiffAct head (trained): diffusion action segmentation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F2733"/>
                </a:solidFill>
                <a:latin typeface="Calibri"/>
              </a:rPr>
              <a:t>•  Wins every segmentation metric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3D8A4D"/>
                </a:solidFill>
                <a:latin typeface="Calibri"/>
              </a:rPr>
              <a:t>•  F1@50 = 70.1  —  first result above 70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•  This is the model SAM3 enriches (next slide)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074920"/>
            <a:ext cx="5577840" cy="685800"/>
          </a:xfrm>
          <a:prstGeom prst="roundRect">
            <a:avLst/>
          </a:prstGeom>
          <a:solidFill>
            <a:srgbClr val="D6EFD8"/>
          </a:solidFill>
          <a:ln w="15875">
            <a:solidFill>
              <a:srgbClr val="3D8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5074920"/>
            <a:ext cx="5257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3D8A4D"/>
                </a:solidFill>
                <a:latin typeface="Calibri"/>
              </a:rPr>
              <a:t>Best segmentation: Acc 74.9 · Edit 79.5 · F1@50 70.1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Procedure Step Recognition — v4 + SAM3 enrichment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59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9A86"/>
                </a:solidFill>
                <a:latin typeface="Calibri"/>
              </a:rPr>
              <a:t>WITH SAM3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1F2733"/>
                </a:solidFill>
                <a:latin typeface="Calibri"/>
              </a:rPr>
              <a:t>v4 + SAM3 — the enriched architecture</a:t>
            </a:r>
          </a:p>
        </p:txBody>
      </p:sp>
      <p:pic>
        <p:nvPicPr>
          <p:cNvPr id="5" name="Picture 4" descr="architecture_sa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298448"/>
            <a:ext cx="715759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Procedure Step Recognition — v4 + SAM3 enrichment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59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9A86"/>
                </a:solidFill>
                <a:latin typeface="Calibri"/>
              </a:rPr>
              <a:t>THE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1F2733"/>
                </a:solidFill>
                <a:latin typeface="Calibri"/>
              </a:rPr>
              <a:t>Why SAM3 — and not LocateAnything?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1">
                <a:solidFill>
                  <a:srgbClr val="5B6B7B"/>
                </a:solidFill>
                <a:latin typeface="Calibri"/>
              </a:rPr>
              <a:t>we tried both; here is the plain-English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4206240" cy="457200"/>
          </a:xfrm>
          <a:prstGeom prst="rect">
            <a:avLst/>
          </a:prstGeom>
          <a:solidFill>
            <a:srgbClr val="3B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737360"/>
            <a:ext cx="3108960" cy="457200"/>
          </a:xfrm>
          <a:prstGeom prst="rect">
            <a:avLst/>
          </a:prstGeom>
          <a:solidFill>
            <a:srgbClr val="3B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LocateAnything (3B)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737360"/>
            <a:ext cx="4206240" cy="457200"/>
          </a:xfrm>
          <a:prstGeom prst="rect">
            <a:avLst/>
          </a:prstGeom>
          <a:solidFill>
            <a:srgbClr val="3B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73736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SAM3 (0.9B)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4206240" cy="512064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4114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What it outputs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194560"/>
            <a:ext cx="3108960" cy="512064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194560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rough boxes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194560"/>
            <a:ext cx="4206240" cy="512064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42062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exact pixel masks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06624"/>
            <a:ext cx="4206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06624"/>
            <a:ext cx="4114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Finds the parts?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706624"/>
            <a:ext cx="3108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706624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yes (coarse)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2706624"/>
            <a:ext cx="4206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2706624"/>
            <a:ext cx="42062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yes (coarse) — more precise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218688"/>
            <a:ext cx="4206240" cy="512064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18688"/>
            <a:ext cx="4114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Tracks parts across the video?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218688"/>
            <a:ext cx="3108960" cy="512064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218688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3218688"/>
            <a:ext cx="4206240" cy="512064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3218688"/>
            <a:ext cx="42062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30752"/>
            <a:ext cx="4206240" cy="512064"/>
          </a:xfrm>
          <a:prstGeom prst="rect">
            <a:avLst/>
          </a:prstGeom>
          <a:solidFill>
            <a:srgbClr val="F6E0E0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30752"/>
            <a:ext cx="4114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Can it say correct / incorrect?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730752"/>
            <a:ext cx="3108960" cy="512064"/>
          </a:xfrm>
          <a:prstGeom prst="rect">
            <a:avLst/>
          </a:prstGeom>
          <a:solidFill>
            <a:srgbClr val="F6E0E0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3730752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3730752"/>
            <a:ext cx="4206240" cy="512064"/>
          </a:xfrm>
          <a:prstGeom prst="rect">
            <a:avLst/>
          </a:prstGeom>
          <a:solidFill>
            <a:srgbClr val="F6E0E0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3730752"/>
            <a:ext cx="42062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242816"/>
            <a:ext cx="4206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42816"/>
            <a:ext cx="4114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Model size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242816"/>
            <a:ext cx="3108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4242816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3B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4242816"/>
            <a:ext cx="4206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0" y="4242816"/>
            <a:ext cx="42062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0.9B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754880"/>
            <a:ext cx="4206240" cy="512064"/>
          </a:xfrm>
          <a:prstGeom prst="rect">
            <a:avLst/>
          </a:prstGeom>
          <a:solidFill>
            <a:srgbClr val="D3F0EA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754880"/>
            <a:ext cx="4114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Best 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4754880"/>
            <a:ext cx="3108960" cy="512064"/>
          </a:xfrm>
          <a:prstGeom prst="rect">
            <a:avLst/>
          </a:prstGeom>
          <a:solidFill>
            <a:srgbClr val="D3F0EA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4754880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80" y="4754880"/>
            <a:ext cx="4206240" cy="512064"/>
          </a:xfrm>
          <a:prstGeom prst="rect">
            <a:avLst/>
          </a:prstGeom>
          <a:solidFill>
            <a:srgbClr val="D3F0EA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80" y="4754880"/>
            <a:ext cx="42062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enrich the output (masks + inventory)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F2733"/>
                </a:solidFill>
                <a:latin typeface="Calibri"/>
              </a:rPr>
              <a:t>Both find the parts.  Neither can judge correct vs incorrect (both only locate).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SAM3 wins for enrichment: precise masks + video tracking, and it is smaller.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Procedure Step Recognition — v4 + SAM3 enrichment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D8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D8A4D"/>
                </a:solidFill>
                <a:latin typeface="Calibri"/>
              </a:rPr>
              <a:t>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1F2733"/>
                </a:solidFill>
                <a:latin typeface="Calibri"/>
              </a:rPr>
              <a:t>All architectures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1">
                <a:solidFill>
                  <a:srgbClr val="5B6B7B"/>
                </a:solidFill>
                <a:latin typeface="Calibri"/>
              </a:rPr>
              <a:t>IndustReal test · step segmentation · 🏆 = best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217920" cy="457200"/>
          </a:xfrm>
          <a:prstGeom prst="rect">
            <a:avLst/>
          </a:prstGeom>
          <a:solidFill>
            <a:srgbClr val="3B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783080"/>
            <a:ext cx="1463040" cy="457200"/>
          </a:xfrm>
          <a:prstGeom prst="rect">
            <a:avLst/>
          </a:prstGeom>
          <a:solidFill>
            <a:srgbClr val="3B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783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783080"/>
            <a:ext cx="1463040" cy="457200"/>
          </a:xfrm>
          <a:prstGeom prst="rect">
            <a:avLst/>
          </a:prstGeom>
          <a:solidFill>
            <a:srgbClr val="3B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1783080"/>
            <a:ext cx="1463040" cy="457200"/>
          </a:xfrm>
          <a:prstGeom prst="rect">
            <a:avLst/>
          </a:prstGeom>
          <a:solidFill>
            <a:srgbClr val="3B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1783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F1@50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40280"/>
            <a:ext cx="6217920" cy="457200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4028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v1  Huge-K710 + ASFormer  (baseline)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240280"/>
            <a:ext cx="1463040" cy="457200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2402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73.3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240280"/>
            <a:ext cx="1463040" cy="457200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402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68.8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240280"/>
            <a:ext cx="1463040" cy="457200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2402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56.3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97480"/>
            <a:ext cx="6217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69748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v1  + Viterbi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697480"/>
            <a:ext cx="14630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6974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73.4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697480"/>
            <a:ext cx="14630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6974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74.2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697480"/>
            <a:ext cx="14630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6974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62.2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154680"/>
            <a:ext cx="6217920" cy="457200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15468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v2  SSv2-giant + ASFormer + Viterbi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154680"/>
            <a:ext cx="1463040" cy="457200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1546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74.0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154680"/>
            <a:ext cx="1463040" cy="457200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1546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77.3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3154680"/>
            <a:ext cx="1463040" cy="457200"/>
          </a:xfrm>
          <a:prstGeom prst="rect">
            <a:avLst/>
          </a:prstGeom>
          <a:solidFill>
            <a:srgbClr val="EEF1F5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1546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66.5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611880"/>
            <a:ext cx="6217920" cy="457200"/>
          </a:xfrm>
          <a:prstGeom prst="rect">
            <a:avLst/>
          </a:prstGeom>
          <a:solidFill>
            <a:srgbClr val="EAF2FB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61188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v2  SSv2-giant + DiffAct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611880"/>
            <a:ext cx="1463040" cy="457200"/>
          </a:xfrm>
          <a:prstGeom prst="rect">
            <a:avLst/>
          </a:prstGeom>
          <a:solidFill>
            <a:srgbClr val="EAF2FB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6118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74.4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3611880"/>
            <a:ext cx="1463040" cy="457200"/>
          </a:xfrm>
          <a:prstGeom prst="rect">
            <a:avLst/>
          </a:prstGeom>
          <a:solidFill>
            <a:srgbClr val="EAF2FB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6118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79.6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3611880"/>
            <a:ext cx="1463040" cy="457200"/>
          </a:xfrm>
          <a:prstGeom prst="rect">
            <a:avLst/>
          </a:prstGeom>
          <a:solidFill>
            <a:srgbClr val="EAF2FB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36118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68.9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069080"/>
            <a:ext cx="6217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06908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Fusion (giant+IV2-B14) + ASFormer + Viterbi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4069080"/>
            <a:ext cx="14630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4069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75.7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4069080"/>
            <a:ext cx="14630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4069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77.6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4069080"/>
            <a:ext cx="14630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4069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733"/>
                </a:solidFill>
                <a:latin typeface="Calibri"/>
              </a:rPr>
              <a:t>68.2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526280"/>
            <a:ext cx="6217920" cy="457200"/>
          </a:xfrm>
          <a:prstGeom prst="rect">
            <a:avLst/>
          </a:prstGeom>
          <a:solidFill>
            <a:srgbClr val="C7EBC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452628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🏆 v4  Fusion + DiffAct   — BEST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4526280"/>
            <a:ext cx="1463040" cy="457200"/>
          </a:xfrm>
          <a:prstGeom prst="rect">
            <a:avLst/>
          </a:prstGeom>
          <a:solidFill>
            <a:srgbClr val="C7EBC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45262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74.9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4526280"/>
            <a:ext cx="1463040" cy="457200"/>
          </a:xfrm>
          <a:prstGeom prst="rect">
            <a:avLst/>
          </a:prstGeom>
          <a:solidFill>
            <a:srgbClr val="C7EBC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45262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79.5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84080" y="4526280"/>
            <a:ext cx="1463040" cy="457200"/>
          </a:xfrm>
          <a:prstGeom prst="rect">
            <a:avLst/>
          </a:prstGeom>
          <a:solidFill>
            <a:srgbClr val="C7EBCF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0" y="45262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70.1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4983480"/>
            <a:ext cx="6217920" cy="457200"/>
          </a:xfrm>
          <a:prstGeom prst="rect">
            <a:avLst/>
          </a:prstGeom>
          <a:solidFill>
            <a:srgbClr val="D3F0EA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98348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v4  +  SAM3 enrichment   (same metrics · richer output)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4983480"/>
            <a:ext cx="1463040" cy="457200"/>
          </a:xfrm>
          <a:prstGeom prst="rect">
            <a:avLst/>
          </a:prstGeom>
          <a:solidFill>
            <a:srgbClr val="D3F0EA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49834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74.9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1040" y="4983480"/>
            <a:ext cx="1463040" cy="457200"/>
          </a:xfrm>
          <a:prstGeom prst="rect">
            <a:avLst/>
          </a:prstGeom>
          <a:solidFill>
            <a:srgbClr val="D3F0EA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40" y="49834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79.5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84080" y="4983480"/>
            <a:ext cx="1463040" cy="457200"/>
          </a:xfrm>
          <a:prstGeom prst="rect">
            <a:avLst/>
          </a:prstGeom>
          <a:solidFill>
            <a:srgbClr val="D3F0EA"/>
          </a:solidFill>
          <a:ln w="9525">
            <a:solidFill>
              <a:srgbClr val="CD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4080" y="49834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2733"/>
                </a:solidFill>
                <a:latin typeface="Calibri"/>
              </a:rPr>
              <a:t>70.1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D8A4D"/>
                </a:solidFill>
                <a:latin typeface="Calibri"/>
              </a:rPr>
              <a:t>v4 is the best model.  </a:t>
            </a:r>
            <a:r>
              <a:rPr sz="1300" b="0" i="0">
                <a:solidFill>
                  <a:srgbClr val="1F2733"/>
                </a:solidFill>
                <a:latin typeface="Calibri"/>
              </a:rPr>
              <a:t>SAM3 is not a new model — it is added on top of v4, so the numbers are identical; it only makes the output richer.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Procedure Step Recognition — v4 + SAM3 enrichment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59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9A86"/>
                </a:solidFill>
                <a:latin typeface="Calibri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1F2733"/>
                </a:solidFill>
                <a:latin typeface="Calibri"/>
              </a:rPr>
              <a:t>What the enriched output looks like</a:t>
            </a:r>
          </a:p>
        </p:txBody>
      </p:sp>
      <p:pic>
        <p:nvPicPr>
          <p:cNvPr id="5" name="Picture 4" descr="enriched_outpu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71600"/>
            <a:ext cx="675349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59A86"/>
                </a:solidFill>
                <a:latin typeface="Calibri"/>
              </a:rPr>
              <a:t>Same timeline as v4  ·  </a:t>
            </a:r>
            <a:r>
              <a:rPr sz="1250" b="0" i="0">
                <a:solidFill>
                  <a:srgbClr val="1F2733"/>
                </a:solidFill>
                <a:latin typeface="Calibri"/>
              </a:rPr>
              <a:t>each step now shows part masks (where) + a component inventory (what is present).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Procedure Step Recognition — v4 + SAM3 enrichment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59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9A86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1F2733"/>
                </a:solidFill>
                <a:latin typeface="Calibri"/>
              </a:rPr>
              <a:t>Bottom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02920" cy="914400"/>
          </a:xfrm>
          <a:prstGeom prst="roundRect">
            <a:avLst/>
          </a:prstGeom>
          <a:solidFill>
            <a:srgbClr val="3D8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691640"/>
            <a:ext cx="10332720" cy="914400"/>
          </a:xfrm>
          <a:prstGeom prst="roundRect">
            <a:avLst/>
          </a:prstGeom>
          <a:solidFill>
            <a:srgbClr val="D6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691640"/>
            <a:ext cx="9966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2733"/>
                </a:solidFill>
                <a:latin typeface="Calibri"/>
              </a:rPr>
              <a:t>v4 stays the best model.  </a:t>
            </a:r>
            <a:r>
              <a:rPr sz="1250" b="0" i="0">
                <a:solidFill>
                  <a:srgbClr val="1F2733"/>
                </a:solidFill>
                <a:latin typeface="Calibri"/>
              </a:rPr>
              <a:t>Fusion + DiffAct, F1@50 70.1. SAM3 does not change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70632"/>
            <a:ext cx="502920" cy="914400"/>
          </a:xfrm>
          <a:prstGeom prst="roundRect">
            <a:avLst/>
          </a:prstGeom>
          <a:solidFill>
            <a:srgbClr val="159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70632"/>
            <a:ext cx="502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770632"/>
            <a:ext cx="10332720" cy="914400"/>
          </a:xfrm>
          <a:prstGeom prst="roundRect">
            <a:avLst/>
          </a:prstGeom>
          <a:solidFill>
            <a:srgbClr val="D3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770632"/>
            <a:ext cx="9966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2733"/>
                </a:solidFill>
                <a:latin typeface="Calibri"/>
              </a:rPr>
              <a:t>SAM3 is an add-on, not a replacement.  </a:t>
            </a:r>
            <a:r>
              <a:rPr sz="1250" b="0" i="0">
                <a:solidFill>
                  <a:srgbClr val="1F2733"/>
                </a:solidFill>
                <a:latin typeface="Calibri"/>
              </a:rPr>
              <a:t>It runs on top of v4 at inference — no retraining, same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9624"/>
            <a:ext cx="502920" cy="914400"/>
          </a:xfrm>
          <a:prstGeom prst="roundRect">
            <a:avLst/>
          </a:prstGeom>
          <a:solidFill>
            <a:srgbClr val="3B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9624"/>
            <a:ext cx="502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849624"/>
            <a:ext cx="10332720" cy="9144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849624"/>
            <a:ext cx="9966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2733"/>
                </a:solidFill>
                <a:latin typeface="Calibri"/>
              </a:rPr>
              <a:t>It makes the output richer.  </a:t>
            </a:r>
            <a:r>
              <a:rPr sz="1250" b="0" i="0">
                <a:solidFill>
                  <a:srgbClr val="1F2733"/>
                </a:solidFill>
                <a:latin typeface="Calibri"/>
              </a:rPr>
              <a:t>Per-step part masks (where) + a component inventory (what is present).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28616"/>
            <a:ext cx="502920" cy="914400"/>
          </a:xfrm>
          <a:prstGeom prst="roundRect">
            <a:avLst/>
          </a:prstGeom>
          <a:solidFill>
            <a:srgbClr val="C8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28616"/>
            <a:ext cx="502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928616"/>
            <a:ext cx="10332720" cy="914400"/>
          </a:xfrm>
          <a:prstGeom prst="roundRect">
            <a:avLst/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928616"/>
            <a:ext cx="9966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2733"/>
                </a:solidFill>
                <a:latin typeface="Calibri"/>
              </a:rPr>
              <a:t>It does not judge correctness.  </a:t>
            </a:r>
            <a:r>
              <a:rPr sz="1250" b="0" i="0">
                <a:solidFill>
                  <a:srgbClr val="1F2733"/>
                </a:solidFill>
                <a:latin typeface="Calibri"/>
              </a:rPr>
              <a:t>Like LocateAnything, SAM3 only locates. Correct-vs-incorrect stays the open problem.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Procedure Step Recognition — v4 + SAM3 enrichment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