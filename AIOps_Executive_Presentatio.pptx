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147375157" r:id="rId6"/>
    <p:sldId id="2147375158" r:id="rId7"/>
    <p:sldId id="2147375160" r:id="rId8"/>
    <p:sldId id="2147375094" r:id="rId9"/>
    <p:sldId id="2147375096" r:id="rId10"/>
    <p:sldId id="2147375132" r:id="rId11"/>
    <p:sldId id="2147375133" r:id="rId12"/>
    <p:sldId id="2147375134" r:id="rId13"/>
    <p:sldId id="2147375135" r:id="rId14"/>
    <p:sldId id="2147375136" r:id="rId15"/>
    <p:sldId id="2147375137" r:id="rId16"/>
    <p:sldId id="2147375138" r:id="rId17"/>
    <p:sldId id="2147375139" r:id="rId18"/>
    <p:sldId id="2147375140" r:id="rId19"/>
    <p:sldId id="2147375141" r:id="rId20"/>
    <p:sldId id="214737514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7E898-8E6F-45E5-A87C-122176828D9C}" v="27" dt="2026-08-05T17:57:12.512"/>
    <p1510:client id="{D89C9E8D-155C-48A2-8003-6A63C3E45954}" v="19" dt="2026-08-05T18:17:58.996"/>
    <p1510:client id="{EBFCB91E-0EDE-1231-8448-FDADEDDABEAC}" v="5" dt="2026-08-05T17:47:07.401"/>
    <p1510:client id="{EE354CC8-AB19-4596-BC50-41FDF6D5F714}" v="5" dt="2026-08-05T18:18:02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C2BC2-9A80-4785-9F77-39CCCD6503E2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B11A0-9C0D-4610-B5EE-994CCE570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9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DEDD1-7B22-49A2-88C0-1EDB81299E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6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DEDD1-7B22-49A2-88C0-1EDB81299E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Aptos SemiBold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6341-4282-6E92-E5C4-7B19444CA503}"/>
              </a:ext>
            </a:extLst>
          </p:cNvPr>
          <p:cNvGrpSpPr/>
          <p:nvPr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88008-B6B4-3C0F-C6FA-06158D9DE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110EBA-7F3C-ABFE-5131-BCF5E19F0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7BA708-6B5F-1D5C-2873-7CEFC3DF7B5D}"/>
              </a:ext>
            </a:extLst>
          </p:cNvPr>
          <p:cNvSpPr txBox="1"/>
          <p:nvPr/>
        </p:nvSpPr>
        <p:spPr>
          <a:xfrm>
            <a:off x="71253" y="6547104"/>
            <a:ext cx="3998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>
              <a:solidFill>
                <a:srgbClr val="0034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804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3339" y="2885802"/>
            <a:ext cx="5711952" cy="10863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5400" b="1" i="0">
                <a:solidFill>
                  <a:srgbClr val="FFFFFF"/>
                </a:solidFill>
                <a:latin typeface="Arial"/>
              </a:rPr>
              <a:t>AI for Operations</a:t>
            </a:r>
            <a:endParaRPr sz="5400" b="1" i="0">
              <a:solidFill>
                <a:srgbClr val="8FCBE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DDE1-7609-8C9D-4FB5-7F015C2C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8DBDE0-C7D1-73DF-2A65-C29ACFAF0B7D}"/>
              </a:ext>
            </a:extLst>
          </p:cNvPr>
          <p:cNvSpPr/>
          <p:nvPr/>
        </p:nvSpPr>
        <p:spPr>
          <a:xfrm>
            <a:off x="0" y="685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7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37000"/>
                      </a14:imgEffect>
                    </a14:imgLayer>
                  </a14:imgProps>
                </a:ext>
              </a:extLst>
            </a:blip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212BC6F-0C91-542A-639B-5773B571CA99}"/>
              </a:ext>
            </a:extLst>
          </p:cNvPr>
          <p:cNvSpPr txBox="1"/>
          <p:nvPr/>
        </p:nvSpPr>
        <p:spPr>
          <a:xfrm>
            <a:off x="4523711" y="379803"/>
            <a:ext cx="3144578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5274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Our Team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0F5E5B-C886-9C1C-FF59-32A40960C777}"/>
              </a:ext>
            </a:extLst>
          </p:cNvPr>
          <p:cNvSpPr/>
          <p:nvPr/>
        </p:nvSpPr>
        <p:spPr>
          <a:xfrm>
            <a:off x="2693958" y="1763141"/>
            <a:ext cx="2883882" cy="731024"/>
          </a:xfrm>
          <a:prstGeom prst="roundRect">
            <a:avLst>
              <a:gd name="adj" fmla="val 295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Andrew Modjeski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  <a:latin typeface="Avenir Next LT Pro Demi" panose="020B0704020202020204" pitchFamily="34" charset="0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99135F-EAF9-EEF5-C176-DE9913D645E1}"/>
              </a:ext>
            </a:extLst>
          </p:cNvPr>
          <p:cNvSpPr/>
          <p:nvPr/>
        </p:nvSpPr>
        <p:spPr>
          <a:xfrm>
            <a:off x="6614160" y="1756931"/>
            <a:ext cx="2883883" cy="743444"/>
          </a:xfrm>
          <a:prstGeom prst="roundRect">
            <a:avLst>
              <a:gd name="adj" fmla="val 238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Jean-Pierre Njock II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  <a:latin typeface="Avenir Next LT Pro Demi" panose="020B0704020202020204" pitchFamily="34" charset="0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EAAB75-6888-B99C-384D-76F3697B983D}"/>
              </a:ext>
            </a:extLst>
          </p:cNvPr>
          <p:cNvSpPr/>
          <p:nvPr/>
        </p:nvSpPr>
        <p:spPr>
          <a:xfrm>
            <a:off x="1429455" y="4923721"/>
            <a:ext cx="2883882" cy="731024"/>
          </a:xfrm>
          <a:prstGeom prst="roundRect">
            <a:avLst>
              <a:gd name="adj" fmla="val 295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Nahom Tesfu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Member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2B5B3C-B151-CF7D-51A1-C525BF1B77AD}"/>
              </a:ext>
            </a:extLst>
          </p:cNvPr>
          <p:cNvSpPr/>
          <p:nvPr/>
        </p:nvSpPr>
        <p:spPr>
          <a:xfrm>
            <a:off x="4577083" y="4911301"/>
            <a:ext cx="2883883" cy="743444"/>
          </a:xfrm>
          <a:prstGeom prst="roundRect">
            <a:avLst>
              <a:gd name="adj" fmla="val 238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Ketan More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Member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6B6363-FF6B-6F6B-6968-C7076EB81074}"/>
              </a:ext>
            </a:extLst>
          </p:cNvPr>
          <p:cNvSpPr/>
          <p:nvPr/>
        </p:nvSpPr>
        <p:spPr>
          <a:xfrm>
            <a:off x="7715380" y="4923721"/>
            <a:ext cx="2883883" cy="743444"/>
          </a:xfrm>
          <a:prstGeom prst="roundRect">
            <a:avLst>
              <a:gd name="adj" fmla="val 238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Dhyey 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Vank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  <a:latin typeface="Avenir Next LT Pro Demi" panose="020B0704020202020204" pitchFamily="34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 Member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D4C925-58A8-FFB2-DFF4-487F5E824838}"/>
              </a:ext>
            </a:extLst>
          </p:cNvPr>
          <p:cNvSpPr/>
          <p:nvPr/>
        </p:nvSpPr>
        <p:spPr>
          <a:xfrm>
            <a:off x="4577083" y="3340326"/>
            <a:ext cx="2883882" cy="731024"/>
          </a:xfrm>
          <a:prstGeom prst="roundRect">
            <a:avLst>
              <a:gd name="adj" fmla="val 295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t>Sana Hafez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Team Lead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43080-0B23-EB86-0DC2-F92602EC935F}"/>
              </a:ext>
            </a:extLst>
          </p:cNvPr>
          <p:cNvSpPr txBox="1"/>
          <p:nvPr/>
        </p:nvSpPr>
        <p:spPr>
          <a:xfrm>
            <a:off x="2693957" y="2126063"/>
            <a:ext cx="28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Mentor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0E256-94F6-27D8-3388-81B8F7ED1902}"/>
              </a:ext>
            </a:extLst>
          </p:cNvPr>
          <p:cNvSpPr txBox="1"/>
          <p:nvPr/>
        </p:nvSpPr>
        <p:spPr>
          <a:xfrm>
            <a:off x="6549494" y="2126063"/>
            <a:ext cx="28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Mentor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495B1D0-2F4B-A224-A169-3DCEBC43060E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5400000">
            <a:off x="4019025" y="2923721"/>
            <a:ext cx="852371" cy="3147628"/>
          </a:xfrm>
          <a:prstGeom prst="bent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CA09A74-6115-3F26-B40E-A3E8D3DCF6A4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16200000" flipH="1">
            <a:off x="7161988" y="2928386"/>
            <a:ext cx="852371" cy="313829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C112900-5882-9CE7-AE13-0A90533504F0}"/>
              </a:ext>
            </a:extLst>
          </p:cNvPr>
          <p:cNvCxnSpPr>
            <a:cxnSpLocks/>
            <a:endCxn id="8" idx="0"/>
          </p:cNvCxnSpPr>
          <p:nvPr/>
        </p:nvCxnSpPr>
        <p:spPr>
          <a:xfrm rot="5400000">
            <a:off x="5603067" y="4493658"/>
            <a:ext cx="833602" cy="1685"/>
          </a:xfrm>
          <a:prstGeom prst="bent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DF20A57-C5E2-BA13-DF19-E7C3209E09B2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>
            <a:off x="5577840" y="2128653"/>
            <a:ext cx="441184" cy="1211673"/>
          </a:xfrm>
          <a:prstGeom prst="bent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F2E332F-5EA7-8371-43EF-301E76856692}"/>
              </a:ext>
            </a:extLst>
          </p:cNvPr>
          <p:cNvCxnSpPr>
            <a:cxnSpLocks/>
            <a:stCxn id="6" idx="1"/>
            <a:endCxn id="10" idx="0"/>
          </p:cNvCxnSpPr>
          <p:nvPr/>
        </p:nvCxnSpPr>
        <p:spPr>
          <a:xfrm rot="10800000" flipV="1">
            <a:off x="6019024" y="2128652"/>
            <a:ext cx="595136" cy="1211673"/>
          </a:xfrm>
          <a:prstGeom prst="bent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EF60FEE5-0A80-E501-257D-A60B2D65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5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7000"/>
                      </a14:imgEffect>
                    </a14:imgLayer>
                  </a14:imgProps>
                </a:ext>
              </a:extLst>
            </a:blip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556856" y="388460"/>
            <a:ext cx="3078287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5274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Problem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161D72B8-7AF2-54AC-585A-9EDEB740D756}"/>
              </a:ext>
            </a:extLst>
          </p:cNvPr>
          <p:cNvSpPr txBox="1"/>
          <p:nvPr/>
        </p:nvSpPr>
        <p:spPr>
          <a:xfrm>
            <a:off x="1943290" y="1670906"/>
            <a:ext cx="1682283" cy="612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2400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Human Error</a:t>
            </a:r>
          </a:p>
        </p:txBody>
      </p:sp>
      <p:sp>
        <p:nvSpPr>
          <p:cNvPr id="40" name="Rectangle: Rounded Corners 9">
            <a:extLst>
              <a:ext uri="{FF2B5EF4-FFF2-40B4-BE49-F238E27FC236}">
                <a16:creationId xmlns:a16="http://schemas.microsoft.com/office/drawing/2014/main" id="{7EB1AC6B-7B35-AA66-AA3B-8BFF7D5F3FAA}"/>
              </a:ext>
            </a:extLst>
          </p:cNvPr>
          <p:cNvSpPr/>
          <p:nvPr/>
        </p:nvSpPr>
        <p:spPr>
          <a:xfrm>
            <a:off x="4556856" y="2384697"/>
            <a:ext cx="2447905" cy="2888381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1" name="Rectangle: Rounded Corners 9">
            <a:extLst>
              <a:ext uri="{FF2B5EF4-FFF2-40B4-BE49-F238E27FC236}">
                <a16:creationId xmlns:a16="http://schemas.microsoft.com/office/drawing/2014/main" id="{F62418D2-CDE3-9711-4008-6B6C1FC18552}"/>
              </a:ext>
            </a:extLst>
          </p:cNvPr>
          <p:cNvSpPr/>
          <p:nvPr/>
        </p:nvSpPr>
        <p:spPr>
          <a:xfrm>
            <a:off x="7666537" y="2424398"/>
            <a:ext cx="2447905" cy="2888381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43" name="Graphic 42" descr="Warning with solid fill">
            <a:extLst>
              <a:ext uri="{FF2B5EF4-FFF2-40B4-BE49-F238E27FC236}">
                <a16:creationId xmlns:a16="http://schemas.microsoft.com/office/drawing/2014/main" id="{7EE6408D-2A0B-DCEE-38E8-88192E3BD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79016" y="3215420"/>
            <a:ext cx="622947" cy="702767"/>
          </a:xfrm>
          <a:prstGeom prst="rect">
            <a:avLst/>
          </a:prstGeom>
        </p:spPr>
      </p:pic>
      <p:sp>
        <p:nvSpPr>
          <p:cNvPr id="44" name="Rectangle: Rounded Corners 9">
            <a:extLst>
              <a:ext uri="{FF2B5EF4-FFF2-40B4-BE49-F238E27FC236}">
                <a16:creationId xmlns:a16="http://schemas.microsoft.com/office/drawing/2014/main" id="{87FA1EA1-C637-2771-7EFC-EC750ECF9CDD}"/>
              </a:ext>
            </a:extLst>
          </p:cNvPr>
          <p:cNvSpPr/>
          <p:nvPr/>
        </p:nvSpPr>
        <p:spPr>
          <a:xfrm>
            <a:off x="1560480" y="2424398"/>
            <a:ext cx="2447905" cy="2888381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665D0D4-9549-5717-6603-6FAD64202287}"/>
              </a:ext>
            </a:extLst>
          </p:cNvPr>
          <p:cNvGrpSpPr/>
          <p:nvPr/>
        </p:nvGrpSpPr>
        <p:grpSpPr>
          <a:xfrm>
            <a:off x="8606313" y="2984727"/>
            <a:ext cx="675045" cy="681849"/>
            <a:chOff x="9698594" y="2166893"/>
            <a:chExt cx="675045" cy="604405"/>
          </a:xfrm>
        </p:grpSpPr>
        <p:pic>
          <p:nvPicPr>
            <p:cNvPr id="57" name="Graphic 56" descr="Quadcopter with solid fill">
              <a:extLst>
                <a:ext uri="{FF2B5EF4-FFF2-40B4-BE49-F238E27FC236}">
                  <a16:creationId xmlns:a16="http://schemas.microsoft.com/office/drawing/2014/main" id="{D186E2B9-760E-6B5B-D3F3-C744B53D6D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698594" y="2166893"/>
              <a:ext cx="461662" cy="461662"/>
            </a:xfrm>
            <a:prstGeom prst="rect">
              <a:avLst/>
            </a:prstGeom>
          </p:spPr>
        </p:pic>
        <p:sp>
          <p:nvSpPr>
            <p:cNvPr id="58" name="Up Arrow 16">
              <a:extLst>
                <a:ext uri="{FF2B5EF4-FFF2-40B4-BE49-F238E27FC236}">
                  <a16:creationId xmlns:a16="http://schemas.microsoft.com/office/drawing/2014/main" id="{315F0B5C-5936-3E35-8A54-3C7CA075A65E}"/>
                </a:ext>
              </a:extLst>
            </p:cNvPr>
            <p:cNvSpPr/>
            <p:nvPr/>
          </p:nvSpPr>
          <p:spPr>
            <a:xfrm>
              <a:off x="10156105" y="2532860"/>
              <a:ext cx="217534" cy="238438"/>
            </a:xfrm>
            <a:prstGeom prst="upArrow">
              <a:avLst>
                <a:gd name="adj1" fmla="val 33917"/>
                <a:gd name="adj2" fmla="val 60052"/>
              </a:avLst>
            </a:prstGeom>
            <a:solidFill>
              <a:srgbClr val="4CB1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DE98E01-3E5F-D9B2-54C7-4ECF8109A31A}"/>
              </a:ext>
            </a:extLst>
          </p:cNvPr>
          <p:cNvSpPr/>
          <p:nvPr/>
        </p:nvSpPr>
        <p:spPr>
          <a:xfrm>
            <a:off x="1615174" y="3215420"/>
            <a:ext cx="22624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/>
              <a:t>Time consuming to verify </a:t>
            </a:r>
            <a:r>
              <a:rPr lang="en-US" err="1"/>
              <a:t>thepresence</a:t>
            </a:r>
            <a:r>
              <a:rPr lang="en-US"/>
              <a:t> and correct placement </a:t>
            </a:r>
            <a:r>
              <a:rPr lang="en-US" err="1"/>
              <a:t>ofmultiple</a:t>
            </a:r>
            <a:r>
              <a:rPr lang="en-US"/>
              <a:t> components.​</a:t>
            </a:r>
            <a:endParaRPr kumimoji="0" lang="en-US" sz="2400" b="0" i="0" u="none" strike="noStrike" kern="1200" cap="none" spc="0" normalizeH="0" noProof="0">
              <a:ln>
                <a:noFill/>
              </a:ln>
              <a:solidFill>
                <a:srgbClr val="002F6C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67" name="TextBox 11">
            <a:extLst>
              <a:ext uri="{FF2B5EF4-FFF2-40B4-BE49-F238E27FC236}">
                <a16:creationId xmlns:a16="http://schemas.microsoft.com/office/drawing/2014/main" id="{8FF7E518-149E-BEC7-0C05-69BCB9972370}"/>
              </a:ext>
            </a:extLst>
          </p:cNvPr>
          <p:cNvSpPr txBox="1"/>
          <p:nvPr/>
        </p:nvSpPr>
        <p:spPr>
          <a:xfrm>
            <a:off x="4754449" y="1677029"/>
            <a:ext cx="2344059" cy="600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2400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Time Consuming</a:t>
            </a:r>
          </a:p>
        </p:txBody>
      </p:sp>
      <p:sp>
        <p:nvSpPr>
          <p:cNvPr id="69" name="TextBox 11">
            <a:extLst>
              <a:ext uri="{FF2B5EF4-FFF2-40B4-BE49-F238E27FC236}">
                <a16:creationId xmlns:a16="http://schemas.microsoft.com/office/drawing/2014/main" id="{17EDE4AA-5008-FDF1-73EE-7DD65CB15499}"/>
              </a:ext>
            </a:extLst>
          </p:cNvPr>
          <p:cNvSpPr txBox="1"/>
          <p:nvPr/>
        </p:nvSpPr>
        <p:spPr>
          <a:xfrm>
            <a:off x="7891794" y="1677029"/>
            <a:ext cx="2344059" cy="600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2400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Capital Heavy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5F841-8B1D-E83A-B2EA-E7F679322F6E}"/>
              </a:ext>
            </a:extLst>
          </p:cNvPr>
          <p:cNvGrpSpPr/>
          <p:nvPr/>
        </p:nvGrpSpPr>
        <p:grpSpPr>
          <a:xfrm>
            <a:off x="5399170" y="4967338"/>
            <a:ext cx="640081" cy="640081"/>
            <a:chOff x="7826967" y="3611734"/>
            <a:chExt cx="640081" cy="64008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6BE193-BA06-01FC-B35C-B0F40960A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826967" y="3611734"/>
              <a:ext cx="640081" cy="640081"/>
            </a:xfrm>
            <a:prstGeom prst="ellipse">
              <a:avLst/>
            </a:prstGeom>
            <a:solidFill>
              <a:srgbClr val="003478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obliqueTopLeft"/>
              <a:lightRig rig="soft" dir="t">
                <a:rot lat="0" lon="0" rev="0"/>
              </a:lightRig>
            </a:scene3d>
            <a:sp3d prstMaterial="translucentPowder">
              <a:bevelT w="203200" h="50800" prst="softRound"/>
            </a:sp3d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" name="Graphic 32" descr="Magnifying glass with solid fill">
              <a:extLst>
                <a:ext uri="{FF2B5EF4-FFF2-40B4-BE49-F238E27FC236}">
                  <a16:creationId xmlns:a16="http://schemas.microsoft.com/office/drawing/2014/main" id="{28C82FF8-5822-A37C-A2AD-3FF1557203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940847" y="3718258"/>
              <a:ext cx="406513" cy="406513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883B626-842B-E0A9-CF5E-0203BA5FEA2C}"/>
              </a:ext>
            </a:extLst>
          </p:cNvPr>
          <p:cNvGrpSpPr/>
          <p:nvPr/>
        </p:nvGrpSpPr>
        <p:grpSpPr>
          <a:xfrm>
            <a:off x="2426358" y="4992739"/>
            <a:ext cx="640080" cy="640080"/>
            <a:chOff x="7826968" y="2253864"/>
            <a:chExt cx="640080" cy="64008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9D23BB5-6E52-0F9B-BFCD-1A390E521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826968" y="2253864"/>
              <a:ext cx="640080" cy="640080"/>
            </a:xfrm>
            <a:prstGeom prst="ellipse">
              <a:avLst/>
            </a:prstGeom>
            <a:solidFill>
              <a:srgbClr val="003478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obliqueTopLeft"/>
              <a:lightRig rig="soft" dir="t">
                <a:rot lat="0" lon="0" rev="0"/>
              </a:lightRig>
            </a:scene3d>
            <a:sp3d prstMaterial="translucentPowder">
              <a:bevelT w="203200" h="50800" prst="softRound"/>
            </a:sp3d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Graphic 31" descr="Warning with solid fill">
              <a:extLst>
                <a:ext uri="{FF2B5EF4-FFF2-40B4-BE49-F238E27FC236}">
                  <a16:creationId xmlns:a16="http://schemas.microsoft.com/office/drawing/2014/main" id="{C40B4118-CA27-0F10-7C0A-8AE02781B3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964128" y="2365624"/>
              <a:ext cx="365760" cy="36576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C6B579-5EB6-8456-86E7-FE1069C062E3}"/>
              </a:ext>
            </a:extLst>
          </p:cNvPr>
          <p:cNvGrpSpPr/>
          <p:nvPr/>
        </p:nvGrpSpPr>
        <p:grpSpPr>
          <a:xfrm>
            <a:off x="8638260" y="4992739"/>
            <a:ext cx="640080" cy="640080"/>
            <a:chOff x="7826968" y="2253864"/>
            <a:chExt cx="640080" cy="64008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5E73A38-7655-5AB2-9F69-E14A3C170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826968" y="2253864"/>
              <a:ext cx="640080" cy="640080"/>
            </a:xfrm>
            <a:prstGeom prst="ellipse">
              <a:avLst/>
            </a:prstGeom>
            <a:solidFill>
              <a:srgbClr val="003478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obliqueTopLeft"/>
              <a:lightRig rig="soft" dir="t">
                <a:rot lat="0" lon="0" rev="0"/>
              </a:lightRig>
            </a:scene3d>
            <a:sp3d prstMaterial="translucentPowder">
              <a:bevelT w="203200" h="50800" prst="softRound"/>
            </a:sp3d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6" name="Graphic 31" descr="Warning with solid fill">
              <a:extLst>
                <a:ext uri="{FF2B5EF4-FFF2-40B4-BE49-F238E27FC236}">
                  <a16:creationId xmlns:a16="http://schemas.microsoft.com/office/drawing/2014/main" id="{3490AF30-C67C-1747-5F40-2F79C8FA96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964128" y="2365624"/>
              <a:ext cx="365760" cy="36576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F3091EE-6B28-F322-8CA1-54AD6E45FEF8}"/>
              </a:ext>
            </a:extLst>
          </p:cNvPr>
          <p:cNvSpPr/>
          <p:nvPr/>
        </p:nvSpPr>
        <p:spPr>
          <a:xfrm>
            <a:off x="4573721" y="3120608"/>
            <a:ext cx="22624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/>
              <a:t>Time consuming to verify </a:t>
            </a:r>
            <a:r>
              <a:rPr lang="en-US" err="1"/>
              <a:t>thepresence</a:t>
            </a:r>
            <a:r>
              <a:rPr lang="en-US"/>
              <a:t> and correct placement </a:t>
            </a:r>
            <a:r>
              <a:rPr lang="en-US" err="1"/>
              <a:t>ofmultiple</a:t>
            </a:r>
            <a:r>
              <a:rPr lang="en-US"/>
              <a:t> components.​</a:t>
            </a:r>
            <a:endParaRPr kumimoji="0" lang="en-US" sz="2400" b="0" i="0" u="none" strike="noStrike" kern="1200" cap="none" spc="0" normalizeH="0" noProof="0">
              <a:ln>
                <a:noFill/>
              </a:ln>
              <a:solidFill>
                <a:srgbClr val="002F6C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4" grpId="0" animBg="1"/>
      <p:bldP spid="65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6AE4-E364-24BC-2F54-0E2D26E6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2D3261-F305-12DE-818C-41B35E89086E}"/>
              </a:ext>
            </a:extLst>
          </p:cNvPr>
          <p:cNvSpPr/>
          <p:nvPr/>
        </p:nvSpPr>
        <p:spPr>
          <a:xfrm>
            <a:off x="0" y="685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7000"/>
                      </a14:imgEffect>
                    </a14:imgLayer>
                  </a14:imgProps>
                </a:ext>
              </a:extLst>
            </a:blip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A4419C2-9184-012D-5EFC-04A7A9470C95}"/>
              </a:ext>
            </a:extLst>
          </p:cNvPr>
          <p:cNvGrpSpPr/>
          <p:nvPr/>
        </p:nvGrpSpPr>
        <p:grpSpPr>
          <a:xfrm>
            <a:off x="5920675" y="1930174"/>
            <a:ext cx="5585525" cy="1581405"/>
            <a:chOff x="0" y="0"/>
            <a:chExt cx="1298016" cy="36750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61A7021-43C7-FB76-BAD7-3EA53A886EC5}"/>
                </a:ext>
              </a:extLst>
            </p:cNvPr>
            <p:cNvSpPr/>
            <p:nvPr/>
          </p:nvSpPr>
          <p:spPr>
            <a:xfrm>
              <a:off x="0" y="0"/>
              <a:ext cx="1298016" cy="367502"/>
            </a:xfrm>
            <a:custGeom>
              <a:avLst/>
              <a:gdLst/>
              <a:ahLst/>
              <a:cxnLst/>
              <a:rect l="l" t="t" r="r" b="b"/>
              <a:pathLst>
                <a:path w="1298016" h="367502">
                  <a:moveTo>
                    <a:pt x="0" y="0"/>
                  </a:moveTo>
                  <a:lnTo>
                    <a:pt x="1298016" y="0"/>
                  </a:lnTo>
                  <a:lnTo>
                    <a:pt x="1298016" y="367502"/>
                  </a:lnTo>
                  <a:lnTo>
                    <a:pt x="0" y="367502"/>
                  </a:lnTo>
                  <a:close/>
                </a:path>
              </a:pathLst>
            </a:custGeom>
            <a:blipFill>
              <a:blip r:embed="rId4"/>
              <a:stretch>
                <a:fillRect l="-110" r="-1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443B2DE-0A72-2CE0-5FBA-31B14C8CDB42}"/>
              </a:ext>
            </a:extLst>
          </p:cNvPr>
          <p:cNvSpPr txBox="1"/>
          <p:nvPr/>
        </p:nvSpPr>
        <p:spPr>
          <a:xfrm>
            <a:off x="4556856" y="388460"/>
            <a:ext cx="3078287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5274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Problem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C6DA2CC-F2A0-9296-A23E-27D3CA2E7786}"/>
              </a:ext>
            </a:extLst>
          </p:cNvPr>
          <p:cNvGrpSpPr/>
          <p:nvPr/>
        </p:nvGrpSpPr>
        <p:grpSpPr>
          <a:xfrm>
            <a:off x="5920675" y="3360133"/>
            <a:ext cx="5585525" cy="151446"/>
            <a:chOff x="0" y="-28575"/>
            <a:chExt cx="2206627" cy="5983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EE6DF23-0FE6-6550-EFF9-F21C0B3D8D6C}"/>
                </a:ext>
              </a:extLst>
            </p:cNvPr>
            <p:cNvSpPr/>
            <p:nvPr/>
          </p:nvSpPr>
          <p:spPr>
            <a:xfrm>
              <a:off x="0" y="0"/>
              <a:ext cx="2206627" cy="31255"/>
            </a:xfrm>
            <a:custGeom>
              <a:avLst/>
              <a:gdLst/>
              <a:ahLst/>
              <a:cxnLst/>
              <a:rect l="l" t="t" r="r" b="b"/>
              <a:pathLst>
                <a:path w="2206627" h="31255">
                  <a:moveTo>
                    <a:pt x="0" y="0"/>
                  </a:moveTo>
                  <a:lnTo>
                    <a:pt x="2206627" y="0"/>
                  </a:lnTo>
                  <a:lnTo>
                    <a:pt x="2206627" y="31255"/>
                  </a:lnTo>
                  <a:lnTo>
                    <a:pt x="0" y="31255"/>
                  </a:lnTo>
                  <a:close/>
                </a:path>
              </a:pathLst>
            </a:custGeom>
            <a:solidFill>
              <a:srgbClr val="04C9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0D73010-5F6F-063E-5315-D10DB2968BBB}"/>
                </a:ext>
              </a:extLst>
            </p:cNvPr>
            <p:cNvSpPr txBox="1"/>
            <p:nvPr/>
          </p:nvSpPr>
          <p:spPr>
            <a:xfrm>
              <a:off x="0" y="-28575"/>
              <a:ext cx="2206627" cy="5983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 sz="1200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EFA644F6-1DBB-BB2C-098A-A9D925460A05}"/>
              </a:ext>
            </a:extLst>
          </p:cNvPr>
          <p:cNvSpPr txBox="1"/>
          <p:nvPr/>
        </p:nvSpPr>
        <p:spPr>
          <a:xfrm>
            <a:off x="7972813" y="4707044"/>
            <a:ext cx="3533387" cy="16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21"/>
              </a:lnSpc>
              <a:spcBef>
                <a:spcPct val="0"/>
              </a:spcBef>
            </a:pPr>
            <a:r>
              <a:rPr lang="en-US" sz="1015">
                <a:solidFill>
                  <a:srgbClr val="FFFFFF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Human Error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5B4B387D-CD71-55C1-709C-47D94E6FE1E1}"/>
              </a:ext>
            </a:extLst>
          </p:cNvPr>
          <p:cNvSpPr txBox="1"/>
          <p:nvPr/>
        </p:nvSpPr>
        <p:spPr>
          <a:xfrm>
            <a:off x="1086381" y="1489985"/>
            <a:ext cx="2223978" cy="612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32"/>
              </a:lnSpc>
            </a:pPr>
            <a:r>
              <a:rPr lang="en-US" sz="2400" b="1">
                <a:solidFill>
                  <a:schemeClr val="bg2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Human Error</a:t>
            </a:r>
          </a:p>
        </p:txBody>
      </p:sp>
    </p:spTree>
    <p:extLst>
      <p:ext uri="{BB962C8B-B14F-4D97-AF65-F5344CB8AC3E}">
        <p14:creationId xmlns:p14="http://schemas.microsoft.com/office/powerpoint/2010/main" val="65682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5DE47-1EA6-5C45-8111-49F0B9AD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45A9E9-4C94-3043-6FCD-7054857B5930}"/>
              </a:ext>
            </a:extLst>
          </p:cNvPr>
          <p:cNvSpPr/>
          <p:nvPr/>
        </p:nvSpPr>
        <p:spPr>
          <a:xfrm>
            <a:off x="2693958" y="1763141"/>
            <a:ext cx="2883882" cy="731024"/>
          </a:xfrm>
          <a:prstGeom prst="roundRect">
            <a:avLst>
              <a:gd name="adj" fmla="val 295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Andrew Modjeski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639CDA-99A8-71A2-2881-63E3CEEB6789}"/>
              </a:ext>
            </a:extLst>
          </p:cNvPr>
          <p:cNvSpPr/>
          <p:nvPr/>
        </p:nvSpPr>
        <p:spPr>
          <a:xfrm>
            <a:off x="6614160" y="1756931"/>
            <a:ext cx="2883883" cy="743444"/>
          </a:xfrm>
          <a:prstGeom prst="roundRect">
            <a:avLst>
              <a:gd name="adj" fmla="val 238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Jean-Pierre Njock II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9191D-E333-964E-9835-08C1C6B3808B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C9C080-D504-9F4D-013D-79B8CAEFD2A0}"/>
              </a:ext>
            </a:extLst>
          </p:cNvPr>
          <p:cNvSpPr/>
          <p:nvPr/>
        </p:nvSpPr>
        <p:spPr>
          <a:xfrm>
            <a:off x="1429455" y="4923721"/>
            <a:ext cx="2883882" cy="731024"/>
          </a:xfrm>
          <a:prstGeom prst="roundRect">
            <a:avLst>
              <a:gd name="adj" fmla="val 295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Nahom Tesfu</a:t>
            </a:r>
          </a:p>
          <a:p>
            <a:pPr algn="ctr"/>
            <a:r>
              <a:rPr lang="en-US" sz="2000">
                <a:solidFill>
                  <a:schemeClr val="tx2">
                    <a:lumMod val="60000"/>
                    <a:lumOff val="40000"/>
                  </a:schemeClr>
                </a:solidFill>
              </a:rPr>
              <a:t>Team Member</a:t>
            </a:r>
            <a:endParaRPr 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F92E38-78BF-4562-A466-9B0A82BB009A}"/>
              </a:ext>
            </a:extLst>
          </p:cNvPr>
          <p:cNvSpPr/>
          <p:nvPr/>
        </p:nvSpPr>
        <p:spPr>
          <a:xfrm>
            <a:off x="4577083" y="4911301"/>
            <a:ext cx="2883883" cy="743444"/>
          </a:xfrm>
          <a:prstGeom prst="roundRect">
            <a:avLst>
              <a:gd name="adj" fmla="val 238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Ketan More</a:t>
            </a:r>
          </a:p>
          <a:p>
            <a:pPr algn="ctr"/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Team Member</a:t>
            </a:r>
            <a:endParaRPr 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C7DDC0-8F3B-272B-8CF6-8CE7F5304FEF}"/>
              </a:ext>
            </a:extLst>
          </p:cNvPr>
          <p:cNvSpPr/>
          <p:nvPr/>
        </p:nvSpPr>
        <p:spPr>
          <a:xfrm>
            <a:off x="7715380" y="4923721"/>
            <a:ext cx="2883883" cy="743444"/>
          </a:xfrm>
          <a:prstGeom prst="roundRect">
            <a:avLst>
              <a:gd name="adj" fmla="val 238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Dhyey </a:t>
            </a:r>
            <a:r>
              <a:rPr lang="en-US" sz="2000" b="1" err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Vank</a:t>
            </a:r>
            <a:endParaRPr lang="en-US" sz="2000" b="1">
              <a:solidFill>
                <a:schemeClr val="accent1">
                  <a:lumMod val="50000"/>
                </a:schemeClr>
              </a:solidFill>
              <a:latin typeface="Avenir Next LT Pro Demi" panose="020B0704020202020204" pitchFamily="34" charset="0"/>
            </a:endParaRPr>
          </a:p>
          <a:p>
            <a:pPr algn="ctr"/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</a:rPr>
              <a:t>Team Member</a:t>
            </a:r>
            <a:endParaRPr 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1C2219-EA12-23AE-BB17-03D149E8D708}"/>
              </a:ext>
            </a:extLst>
          </p:cNvPr>
          <p:cNvSpPr/>
          <p:nvPr/>
        </p:nvSpPr>
        <p:spPr>
          <a:xfrm>
            <a:off x="4577083" y="3340326"/>
            <a:ext cx="2883882" cy="731024"/>
          </a:xfrm>
          <a:prstGeom prst="roundRect">
            <a:avLst>
              <a:gd name="adj" fmla="val 295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Sana Hafez</a:t>
            </a:r>
          </a:p>
          <a:p>
            <a:pPr algn="ctr"/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Team Lead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CBB2160C-DD08-CE70-AE77-4875128D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6" y="242191"/>
            <a:ext cx="10983686" cy="684362"/>
          </a:xfrm>
        </p:spPr>
        <p:txBody>
          <a:bodyPr/>
          <a:lstStyle/>
          <a:p>
            <a:pPr lvl="0"/>
            <a:r>
              <a:rPr lang="en-US" noProof="0"/>
              <a:t>AIOps Team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9B0B25-315E-19F8-574E-70093388DF42}"/>
              </a:ext>
            </a:extLst>
          </p:cNvPr>
          <p:cNvSpPr txBox="1"/>
          <p:nvPr/>
        </p:nvSpPr>
        <p:spPr>
          <a:xfrm>
            <a:off x="2693957" y="2126063"/>
            <a:ext cx="28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Mentor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28872-BE65-1526-7978-3A8420189CDE}"/>
              </a:ext>
            </a:extLst>
          </p:cNvPr>
          <p:cNvSpPr txBox="1"/>
          <p:nvPr/>
        </p:nvSpPr>
        <p:spPr>
          <a:xfrm>
            <a:off x="6549494" y="2126063"/>
            <a:ext cx="28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Mentor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B4F1016-4D12-3CBD-CDA5-CDF9CD4C4075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 rot="5400000">
            <a:off x="4019025" y="2923721"/>
            <a:ext cx="852371" cy="3147628"/>
          </a:xfrm>
          <a:prstGeom prst="bent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D450DD7-C52C-1402-02C4-33319B96029E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rot="16200000" flipH="1">
            <a:off x="7161988" y="2928386"/>
            <a:ext cx="852371" cy="313829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9303CF4-D510-8091-681A-30164F968D66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5603067" y="4493658"/>
            <a:ext cx="833602" cy="1685"/>
          </a:xfrm>
          <a:prstGeom prst="bent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8C896C2-02BA-A919-0AB1-49096E4AD36B}"/>
              </a:ext>
            </a:extLst>
          </p:cNvPr>
          <p:cNvCxnSpPr>
            <a:cxnSpLocks/>
            <a:stCxn id="3" idx="3"/>
            <a:endCxn id="16" idx="0"/>
          </p:cNvCxnSpPr>
          <p:nvPr/>
        </p:nvCxnSpPr>
        <p:spPr>
          <a:xfrm>
            <a:off x="5577840" y="2128653"/>
            <a:ext cx="441184" cy="1211673"/>
          </a:xfrm>
          <a:prstGeom prst="bent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A792DBD-1FB8-56BE-7F00-597505F586CB}"/>
              </a:ext>
            </a:extLst>
          </p:cNvPr>
          <p:cNvCxnSpPr>
            <a:cxnSpLocks/>
            <a:stCxn id="4" idx="1"/>
            <a:endCxn id="16" idx="0"/>
          </p:cNvCxnSpPr>
          <p:nvPr/>
        </p:nvCxnSpPr>
        <p:spPr>
          <a:xfrm rot="10800000" flipV="1">
            <a:off x="6019024" y="2128652"/>
            <a:ext cx="595136" cy="1211673"/>
          </a:xfrm>
          <a:prstGeom prst="bent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72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9">
            <a:extLst>
              <a:ext uri="{FF2B5EF4-FFF2-40B4-BE49-F238E27FC236}">
                <a16:creationId xmlns:a16="http://schemas.microsoft.com/office/drawing/2014/main" id="{FA3F3FA6-7DE2-9B12-6265-6256C5736DAA}"/>
              </a:ext>
            </a:extLst>
          </p:cNvPr>
          <p:cNvSpPr txBox="1">
            <a:spLocks/>
          </p:cNvSpPr>
          <p:nvPr/>
        </p:nvSpPr>
        <p:spPr>
          <a:xfrm>
            <a:off x="354909" y="213053"/>
            <a:ext cx="10983686" cy="684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AI For Operations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| Goals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3" name="Picture 2" descr="A person pointing at a whiteboard&#10;&#10;AI-generated content may be incorrect.">
            <a:extLst>
              <a:ext uri="{FF2B5EF4-FFF2-40B4-BE49-F238E27FC236}">
                <a16:creationId xmlns:a16="http://schemas.microsoft.com/office/drawing/2014/main" id="{BC5CBD33-B784-BED5-0053-209127F9F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462" y="19975"/>
            <a:ext cx="986810" cy="986810"/>
          </a:xfrm>
          <a:prstGeom prst="rect">
            <a:avLst/>
          </a:prstGeom>
        </p:spPr>
      </p:pic>
      <p:sp>
        <p:nvSpPr>
          <p:cNvPr id="4" name="TextBox 47">
            <a:extLst>
              <a:ext uri="{FF2B5EF4-FFF2-40B4-BE49-F238E27FC236}">
                <a16:creationId xmlns:a16="http://schemas.microsoft.com/office/drawing/2014/main" id="{2D95D1A7-078F-DBF5-AB7E-1DF4AF54124B}"/>
              </a:ext>
            </a:extLst>
          </p:cNvPr>
          <p:cNvSpPr txBox="1"/>
          <p:nvPr/>
        </p:nvSpPr>
        <p:spPr>
          <a:xfrm>
            <a:off x="6754355" y="1484698"/>
            <a:ext cx="4449898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Goal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Leveraging AI to support build and assembly processes</a:t>
            </a:r>
          </a:p>
        </p:txBody>
      </p:sp>
      <p:sp>
        <p:nvSpPr>
          <p:cNvPr id="5" name="TextBox 47">
            <a:extLst>
              <a:ext uri="{FF2B5EF4-FFF2-40B4-BE49-F238E27FC236}">
                <a16:creationId xmlns:a16="http://schemas.microsoft.com/office/drawing/2014/main" id="{C1ABDD8F-0397-DD4A-54F8-019EAD5AED55}"/>
              </a:ext>
            </a:extLst>
          </p:cNvPr>
          <p:cNvSpPr txBox="1"/>
          <p:nvPr/>
        </p:nvSpPr>
        <p:spPr>
          <a:xfrm>
            <a:off x="6754355" y="2701264"/>
            <a:ext cx="4816846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Explore Technical Approaches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Vision, guidance, latency, real-time feedback</a:t>
            </a:r>
          </a:p>
        </p:txBody>
      </p:sp>
      <p:sp>
        <p:nvSpPr>
          <p:cNvPr id="6" name="TextBox 47">
            <a:extLst>
              <a:ext uri="{FF2B5EF4-FFF2-40B4-BE49-F238E27FC236}">
                <a16:creationId xmlns:a16="http://schemas.microsoft.com/office/drawing/2014/main" id="{88673B83-DD1B-8548-C155-EDA2A5A4FA4B}"/>
              </a:ext>
            </a:extLst>
          </p:cNvPr>
          <p:cNvSpPr txBox="1"/>
          <p:nvPr/>
        </p:nvSpPr>
        <p:spPr>
          <a:xfrm>
            <a:off x="6754355" y="3475929"/>
            <a:ext cx="4010252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Deliver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Working model architecture with feedback on assembly processes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F27605A-119E-4660-F044-E6522D1B8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205" y="1119943"/>
            <a:ext cx="3060475" cy="20366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7C5662F-2E61-DCA7-305B-120D694E62E3}"/>
              </a:ext>
            </a:extLst>
          </p:cNvPr>
          <p:cNvCxnSpPr>
            <a:cxnSpLocks/>
          </p:cNvCxnSpPr>
          <p:nvPr/>
        </p:nvCxnSpPr>
        <p:spPr>
          <a:xfrm>
            <a:off x="635727" y="960480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pic>
        <p:nvPicPr>
          <p:cNvPr id="49" name="Picture 2" descr="F-16 Engine Bay (Engine Removed) - Imgur | Engineering, Military  helicopter, Aircraft modeling">
            <a:extLst>
              <a:ext uri="{FF2B5EF4-FFF2-40B4-BE49-F238E27FC236}">
                <a16:creationId xmlns:a16="http://schemas.microsoft.com/office/drawing/2014/main" id="{DA8B30B6-8E45-A6CF-6ED4-F4598E35C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4387" y="-204450"/>
            <a:ext cx="2819465" cy="44652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04A20A6-3416-399D-90E7-0DD23E3983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24" y="2701264"/>
            <a:ext cx="3342715" cy="21936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1" name="Content Placeholder 5">
            <a:extLst>
              <a:ext uri="{FF2B5EF4-FFF2-40B4-BE49-F238E27FC236}">
                <a16:creationId xmlns:a16="http://schemas.microsoft.com/office/drawing/2014/main" id="{75E19AF9-AF26-41FC-CED6-9ACBE891EC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96" y="4260759"/>
            <a:ext cx="3147002" cy="21012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4D15E-FF93-C730-E22E-2A7304FF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1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7">
            <a:extLst>
              <a:ext uri="{FF2B5EF4-FFF2-40B4-BE49-F238E27FC236}">
                <a16:creationId xmlns:a16="http://schemas.microsoft.com/office/drawing/2014/main" id="{2F25822B-39A1-1277-290C-BA4D0389A823}"/>
              </a:ext>
            </a:extLst>
          </p:cNvPr>
          <p:cNvSpPr txBox="1"/>
          <p:nvPr/>
        </p:nvSpPr>
        <p:spPr>
          <a:xfrm>
            <a:off x="772737" y="4279262"/>
            <a:ext cx="3732755" cy="169277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Solution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Calibri"/>
                <a:cs typeface="Calibri"/>
              </a:rPr>
              <a:t>Always-on vision system watches every step, whispers correct torque/part/order,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Calibri"/>
                <a:cs typeface="Calibri"/>
              </a:rPr>
              <a:t> flags deviations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Calibri"/>
                <a:cs typeface="Calibri"/>
              </a:rPr>
              <a:t> in real time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596A85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" name="TextBox 47">
            <a:extLst>
              <a:ext uri="{FF2B5EF4-FFF2-40B4-BE49-F238E27FC236}">
                <a16:creationId xmlns:a16="http://schemas.microsoft.com/office/drawing/2014/main" id="{2A976F78-C186-711F-1D20-A0DD817B8E0C}"/>
              </a:ext>
            </a:extLst>
          </p:cNvPr>
          <p:cNvSpPr txBox="1"/>
          <p:nvPr/>
        </p:nvSpPr>
        <p:spPr>
          <a:xfrm>
            <a:off x="776332" y="1711945"/>
            <a:ext cx="3729160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Problem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Manual assembly errors 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Roboto"/>
                <a:cs typeface="Roboto"/>
              </a:rPr>
              <a:t>→ 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5–10%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of build cost, schedule slips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247B34-3693-1E9F-98B7-1CDF07367E34}"/>
              </a:ext>
            </a:extLst>
          </p:cNvPr>
          <p:cNvSpPr txBox="1">
            <a:spLocks/>
          </p:cNvSpPr>
          <p:nvPr/>
        </p:nvSpPr>
        <p:spPr>
          <a:xfrm>
            <a:off x="522516" y="504671"/>
            <a:ext cx="10983686" cy="684362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AIOps – Build &amp; Assembly </a:t>
            </a: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| Project Review</a:t>
            </a:r>
            <a:b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5" name="TextBox 47">
            <a:extLst>
              <a:ext uri="{FF2B5EF4-FFF2-40B4-BE49-F238E27FC236}">
                <a16:creationId xmlns:a16="http://schemas.microsoft.com/office/drawing/2014/main" id="{FE5B05C4-09AC-BE51-BD5A-DB6069ADF0B8}"/>
              </a:ext>
            </a:extLst>
          </p:cNvPr>
          <p:cNvSpPr txBox="1"/>
          <p:nvPr/>
        </p:nvSpPr>
        <p:spPr>
          <a:xfrm>
            <a:off x="772737" y="2967334"/>
            <a:ext cx="4010252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Rework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Drilling, scrapping composite parts, endless inspections </a:t>
            </a:r>
          </a:p>
        </p:txBody>
      </p:sp>
      <p:pic>
        <p:nvPicPr>
          <p:cNvPr id="6" name="enigma_16_videos">
            <a:hlinkClick r:id="" action="ppaction://media"/>
            <a:extLst>
              <a:ext uri="{FF2B5EF4-FFF2-40B4-BE49-F238E27FC236}">
                <a16:creationId xmlns:a16="http://schemas.microsoft.com/office/drawing/2014/main" id="{471F6DB9-747E-DA27-0ECE-E65F507B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071" y="1637481"/>
            <a:ext cx="6400809" cy="36004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81BDDF-BC63-2D36-A3C0-E63ABFDE949F}"/>
              </a:ext>
            </a:extLst>
          </p:cNvPr>
          <p:cNvSpPr/>
          <p:nvPr/>
        </p:nvSpPr>
        <p:spPr>
          <a:xfrm>
            <a:off x="6767402" y="5285262"/>
            <a:ext cx="3526661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First Person Technician Assembly 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Calibri"/>
              <a:cs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452065-672C-A62D-1912-F0722E52013E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8BFDF-1983-82CB-BB7F-522AC96F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509BBE-A953-5303-2146-7B12EA02ABAA}"/>
              </a:ext>
            </a:extLst>
          </p:cNvPr>
          <p:cNvSpPr txBox="1"/>
          <p:nvPr/>
        </p:nvSpPr>
        <p:spPr>
          <a:xfrm>
            <a:off x="7701625" y="3300548"/>
            <a:ext cx="1663700" cy="274320"/>
          </a:xfrm>
          <a:prstGeom prst="roundRect">
            <a:avLst/>
          </a:prstGeom>
          <a:solidFill>
            <a:prstClr val="black"/>
          </a:solidFill>
        </p:spPr>
        <p:txBody>
          <a:bodyPr lIns="0" tIns="0" rIns="0" bIns="0">
            <a:spAutoFit/>
          </a:bodyPr>
          <a:lstStyle/>
          <a:p>
            <a:pPr algn="ctr"/>
            <a:r>
              <a:rPr lang="en-US">
                <a:solidFill>
                  <a:prstClr val="white"/>
                </a:solidFill>
              </a:rPr>
              <a:t>Video not found</a:t>
            </a:r>
          </a:p>
        </p:txBody>
      </p:sp>
    </p:spTree>
    <p:extLst>
      <p:ext uri="{BB962C8B-B14F-4D97-AF65-F5344CB8AC3E}">
        <p14:creationId xmlns:p14="http://schemas.microsoft.com/office/powerpoint/2010/main" val="47544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4006667" y="1874520"/>
            <a:ext cx="2438406" cy="146957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15384" y="2007039"/>
            <a:ext cx="294436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300,000+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9664" y="2738628"/>
            <a:ext cx="29443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arts in an F-35 assembly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1962" y="1874520"/>
            <a:ext cx="2317494" cy="146957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9741" y="2041398"/>
            <a:ext cx="1779355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$82.5M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1641" y="2772987"/>
            <a:ext cx="2317494" cy="3520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F-35A </a:t>
            </a: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production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6023" y="1891933"/>
            <a:ext cx="2415709" cy="1469571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97502" y="2068631"/>
            <a:ext cx="184105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D9534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7502" y="2692839"/>
            <a:ext cx="2150948" cy="579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efects missed in manual visual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3872191"/>
            <a:ext cx="6099048" cy="5420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The hidden cost isn't the error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: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it's discovering it late.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Assembly Copilot shifts detection left: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to the station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22959" y="4983480"/>
            <a:ext cx="384048" cy="384048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59" y="4974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946904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5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5257800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E9E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catch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5020056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B9C6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3721608" y="4983480"/>
            <a:ext cx="384048" cy="38404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21608" y="4974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4946904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5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SUB-ASSEMBLY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4" y="5257800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020056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B9C6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620256" y="4983480"/>
            <a:ext cx="384048" cy="38404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0256" y="4974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4946904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5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FINAL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5257800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8" y="5020056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B9C6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6024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518903" y="4983480"/>
            <a:ext cx="384048" cy="38404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518903" y="4974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946904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5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257800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9534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escape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12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AIOps  ·  Assembly Copilot</a:t>
            </a:r>
          </a:p>
        </p:txBody>
      </p:sp>
      <p:sp>
        <p:nvSpPr>
          <p:cNvPr id="43" name="Title 49">
            <a:extLst>
              <a:ext uri="{FF2B5EF4-FFF2-40B4-BE49-F238E27FC236}">
                <a16:creationId xmlns:a16="http://schemas.microsoft.com/office/drawing/2014/main" id="{A6DDFF61-8BD6-93A4-9A0A-A0B03A7F50C9}"/>
              </a:ext>
            </a:extLst>
          </p:cNvPr>
          <p:cNvSpPr txBox="1">
            <a:spLocks/>
          </p:cNvSpPr>
          <p:nvPr/>
        </p:nvSpPr>
        <p:spPr>
          <a:xfrm>
            <a:off x="-85039" y="293525"/>
            <a:ext cx="10983686" cy="684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j-ea"/>
                <a:cs typeface="+mj-cs"/>
              </a:rPr>
              <a:t>AI For Operations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j-ea"/>
                <a:cs typeface="+mj-cs"/>
              </a:rPr>
              <a:t>| why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j-ea"/>
              <a:cs typeface="+mj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269735-4583-68D3-A696-B17E1FE75CDB}"/>
              </a:ext>
            </a:extLst>
          </p:cNvPr>
          <p:cNvCxnSpPr>
            <a:cxnSpLocks/>
          </p:cNvCxnSpPr>
          <p:nvPr/>
        </p:nvCxnSpPr>
        <p:spPr>
          <a:xfrm>
            <a:off x="548640" y="822960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7FE4AA54-26C9-C21C-978C-7092C2C3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836"/>
          <a:stretch>
            <a:fillRect/>
          </a:stretch>
        </p:blipFill>
        <p:spPr>
          <a:xfrm>
            <a:off x="548640" y="909828"/>
            <a:ext cx="2716569" cy="3771900"/>
          </a:xfrm>
          <a:prstGeom prst="rect">
            <a:avLst/>
          </a:prstGeom>
          <a:effectLst>
            <a:outerShdw blurRad="50800" dist="50800" dir="5400000" sx="95000" sy="95000" algn="ctr" rotWithShape="0">
              <a:srgbClr val="000000">
                <a:alpha val="70000"/>
              </a:srgbClr>
            </a:outerShdw>
            <a:softEdge rad="0"/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6B412F-B6D5-E963-9CBE-0ED2C93A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112C7904-D6E3-F2F4-C87C-E37F10DF6E93}"/>
              </a:ext>
            </a:extLst>
          </p:cNvPr>
          <p:cNvSpPr txBox="1">
            <a:spLocks/>
          </p:cNvSpPr>
          <p:nvPr/>
        </p:nvSpPr>
        <p:spPr>
          <a:xfrm>
            <a:off x="522516" y="284120"/>
            <a:ext cx="10983686" cy="684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AI For Operations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| Value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TextBox 47">
            <a:extLst>
              <a:ext uri="{FF2B5EF4-FFF2-40B4-BE49-F238E27FC236}">
                <a16:creationId xmlns:a16="http://schemas.microsoft.com/office/drawing/2014/main" id="{E1D04E99-4D0C-1EA9-F4E9-2751B7E802FF}"/>
              </a:ext>
            </a:extLst>
          </p:cNvPr>
          <p:cNvSpPr txBox="1"/>
          <p:nvPr/>
        </p:nvSpPr>
        <p:spPr>
          <a:xfrm>
            <a:off x="6249730" y="1539446"/>
            <a:ext cx="5094637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Total Addressable Market (TAM)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$7 - $35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 billion USD</a:t>
            </a:r>
          </a:p>
        </p:txBody>
      </p:sp>
      <p:sp>
        <p:nvSpPr>
          <p:cNvPr id="4" name="TextBox 47">
            <a:extLst>
              <a:ext uri="{FF2B5EF4-FFF2-40B4-BE49-F238E27FC236}">
                <a16:creationId xmlns:a16="http://schemas.microsoft.com/office/drawing/2014/main" id="{9C08223F-D8F1-3FC3-BBA3-4C5B0E496E8B}"/>
              </a:ext>
            </a:extLst>
          </p:cNvPr>
          <p:cNvSpPr txBox="1"/>
          <p:nvPr/>
        </p:nvSpPr>
        <p:spPr>
          <a:xfrm>
            <a:off x="6219650" y="2355184"/>
            <a:ext cx="4010252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Value unlocked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Cut rework time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10%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49000"/>
                  </a:srgbClr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  <a:sym typeface="Wingdings" panose="05000000000000000000" pitchFamily="2" charset="2"/>
              </a:rPr>
              <a:t>$9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  <a:sym typeface="Wingdings" panose="05000000000000000000" pitchFamily="2" charset="2"/>
              </a:rPr>
              <a:t> billion USD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F8FA9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7">
            <a:extLst>
              <a:ext uri="{FF2B5EF4-FFF2-40B4-BE49-F238E27FC236}">
                <a16:creationId xmlns:a16="http://schemas.microsoft.com/office/drawing/2014/main" id="{592C7C71-0676-2087-D110-B9E38B2944DF}"/>
              </a:ext>
            </a:extLst>
          </p:cNvPr>
          <p:cNvSpPr txBox="1"/>
          <p:nvPr/>
        </p:nvSpPr>
        <p:spPr>
          <a:xfrm>
            <a:off x="6242502" y="3147167"/>
            <a:ext cx="4010252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Backlog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Faster deliveries, fewer delays</a:t>
            </a:r>
          </a:p>
        </p:txBody>
      </p:sp>
      <p:sp>
        <p:nvSpPr>
          <p:cNvPr id="6" name="TextBox 47">
            <a:extLst>
              <a:ext uri="{FF2B5EF4-FFF2-40B4-BE49-F238E27FC236}">
                <a16:creationId xmlns:a16="http://schemas.microsoft.com/office/drawing/2014/main" id="{211CE2B5-A14E-0975-F476-809D74A44166}"/>
              </a:ext>
            </a:extLst>
          </p:cNvPr>
          <p:cNvSpPr txBox="1"/>
          <p:nvPr/>
        </p:nvSpPr>
        <p:spPr>
          <a:xfrm>
            <a:off x="6242502" y="3946745"/>
            <a:ext cx="4010252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Safety &amp; Workforce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Zero-Defect culture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963252-3DB1-38F8-C3F3-7AB05F738562}"/>
              </a:ext>
            </a:extLst>
          </p:cNvPr>
          <p:cNvGrpSpPr/>
          <p:nvPr/>
        </p:nvGrpSpPr>
        <p:grpSpPr>
          <a:xfrm>
            <a:off x="5798256" y="4894765"/>
            <a:ext cx="5911110" cy="1451035"/>
            <a:chOff x="3884894" y="4313966"/>
            <a:chExt cx="5052566" cy="12732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3ADAE59-123F-962E-6C9E-FABEA6C4BBDC}"/>
                </a:ext>
              </a:extLst>
            </p:cNvPr>
            <p:cNvGrpSpPr/>
            <p:nvPr/>
          </p:nvGrpSpPr>
          <p:grpSpPr>
            <a:xfrm>
              <a:off x="4299081" y="4329258"/>
              <a:ext cx="844279" cy="724392"/>
              <a:chOff x="992545" y="4683044"/>
              <a:chExt cx="778407" cy="67440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71D0824B-0CB0-D6AC-B858-8083AA6A37F4}"/>
                  </a:ext>
                </a:extLst>
              </p:cNvPr>
              <p:cNvSpPr/>
              <p:nvPr/>
            </p:nvSpPr>
            <p:spPr>
              <a:xfrm>
                <a:off x="992545" y="4683044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45" name="Graphic 12" descr="Clipboard Checked with solid fill">
                <a:extLst>
                  <a:ext uri="{FF2B5EF4-FFF2-40B4-BE49-F238E27FC236}">
                    <a16:creationId xmlns:a16="http://schemas.microsoft.com/office/drawing/2014/main" id="{79713368-10F3-3739-08C4-F251E9AD4E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9237" y="476814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46" name="Up Arrow 16">
                <a:extLst>
                  <a:ext uri="{FF2B5EF4-FFF2-40B4-BE49-F238E27FC236}">
                    <a16:creationId xmlns:a16="http://schemas.microsoft.com/office/drawing/2014/main" id="{34CC2F1B-5CC2-DA11-9710-21FDF61D90C9}"/>
                  </a:ext>
                </a:extLst>
              </p:cNvPr>
              <p:cNvSpPr/>
              <p:nvPr/>
            </p:nvSpPr>
            <p:spPr>
              <a:xfrm>
                <a:off x="1553418" y="511900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BCF1C5-0329-621F-8575-F7B1A2D4CC08}"/>
                </a:ext>
              </a:extLst>
            </p:cNvPr>
            <p:cNvSpPr/>
            <p:nvPr/>
          </p:nvSpPr>
          <p:spPr>
            <a:xfrm>
              <a:off x="5242430" y="5128102"/>
              <a:ext cx="1182012" cy="45911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F6C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rPr>
                <a:t>Economical Value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D536F5-AD45-8091-5489-B1DCE79044A0}"/>
                </a:ext>
              </a:extLst>
            </p:cNvPr>
            <p:cNvGrpSpPr/>
            <p:nvPr/>
          </p:nvGrpSpPr>
          <p:grpSpPr>
            <a:xfrm>
              <a:off x="5429088" y="4313966"/>
              <a:ext cx="862637" cy="733461"/>
              <a:chOff x="2122552" y="4667752"/>
              <a:chExt cx="783812" cy="686431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417DE30C-3D97-E0AC-CFE7-893DEDC7F841}"/>
                  </a:ext>
                </a:extLst>
              </p:cNvPr>
              <p:cNvSpPr/>
              <p:nvPr/>
            </p:nvSpPr>
            <p:spPr>
              <a:xfrm>
                <a:off x="2122552" y="4667752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42" name="Graphic 18" descr="Dollar with solid fill">
                <a:extLst>
                  <a:ext uri="{FF2B5EF4-FFF2-40B4-BE49-F238E27FC236}">
                    <a16:creationId xmlns:a16="http://schemas.microsoft.com/office/drawing/2014/main" id="{1AD24BCC-645B-896C-0A75-E6289B1F2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2260021" y="4783625"/>
                <a:ext cx="400108" cy="400108"/>
              </a:xfrm>
              <a:prstGeom prst="rect">
                <a:avLst/>
              </a:prstGeom>
            </p:spPr>
          </p:pic>
          <p:sp>
            <p:nvSpPr>
              <p:cNvPr id="43" name="Up Arrow 16">
                <a:extLst>
                  <a:ext uri="{FF2B5EF4-FFF2-40B4-BE49-F238E27FC236}">
                    <a16:creationId xmlns:a16="http://schemas.microsoft.com/office/drawing/2014/main" id="{BC519505-7CBC-9C38-F50B-45449889D01C}"/>
                  </a:ext>
                </a:extLst>
              </p:cNvPr>
              <p:cNvSpPr/>
              <p:nvPr/>
            </p:nvSpPr>
            <p:spPr>
              <a:xfrm>
                <a:off x="2688830" y="5115745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FFAD9A-1C0B-457B-8DB6-EF3A49EBD5BB}"/>
                </a:ext>
              </a:extLst>
            </p:cNvPr>
            <p:cNvSpPr/>
            <p:nvPr/>
          </p:nvSpPr>
          <p:spPr>
            <a:xfrm>
              <a:off x="6372319" y="5222627"/>
              <a:ext cx="1184074" cy="27006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F6C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rPr>
                <a:t>Value to UAE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523FBEC-ACAC-D04D-B48B-779FAA0505A8}"/>
                </a:ext>
              </a:extLst>
            </p:cNvPr>
            <p:cNvGrpSpPr/>
            <p:nvPr/>
          </p:nvGrpSpPr>
          <p:grpSpPr>
            <a:xfrm>
              <a:off x="6585576" y="4317278"/>
              <a:ext cx="846901" cy="735775"/>
              <a:chOff x="3279040" y="4671064"/>
              <a:chExt cx="781737" cy="689501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B3129AE7-20FD-A664-B3E0-C5038B442A70}"/>
                  </a:ext>
                </a:extLst>
              </p:cNvPr>
              <p:cNvSpPr/>
              <p:nvPr/>
            </p:nvSpPr>
            <p:spPr>
              <a:xfrm>
                <a:off x="3279040" y="4671064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39" name="Graphic 23" descr="Quadcopter with solid fill">
                <a:extLst>
                  <a:ext uri="{FF2B5EF4-FFF2-40B4-BE49-F238E27FC236}">
                    <a16:creationId xmlns:a16="http://schemas.microsoft.com/office/drawing/2014/main" id="{3F467B0B-1F69-99D0-2A06-2841973B1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85732" y="475616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40" name="Up Arrow 16">
                <a:extLst>
                  <a:ext uri="{FF2B5EF4-FFF2-40B4-BE49-F238E27FC236}">
                    <a16:creationId xmlns:a16="http://schemas.microsoft.com/office/drawing/2014/main" id="{D0C1677C-2C05-2BCB-56B2-EE6C454DBB56}"/>
                  </a:ext>
                </a:extLst>
              </p:cNvPr>
              <p:cNvSpPr/>
              <p:nvPr/>
            </p:nvSpPr>
            <p:spPr>
              <a:xfrm>
                <a:off x="3843243" y="512212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4AC68FF-4707-53BC-CAD1-A0E2C6C5D7E1}"/>
                </a:ext>
              </a:extLst>
            </p:cNvPr>
            <p:cNvGrpSpPr/>
            <p:nvPr/>
          </p:nvGrpSpPr>
          <p:grpSpPr>
            <a:xfrm>
              <a:off x="7701728" y="4314438"/>
              <a:ext cx="861003" cy="735775"/>
              <a:chOff x="4395192" y="4668224"/>
              <a:chExt cx="781737" cy="689501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894E6B1-6876-ABE5-61D4-FC40500FF5FC}"/>
                  </a:ext>
                </a:extLst>
              </p:cNvPr>
              <p:cNvGrpSpPr/>
              <p:nvPr/>
            </p:nvGrpSpPr>
            <p:grpSpPr>
              <a:xfrm>
                <a:off x="4395192" y="4668224"/>
                <a:ext cx="781737" cy="689501"/>
                <a:chOff x="4395192" y="4668224"/>
                <a:chExt cx="781737" cy="689501"/>
              </a:xfrm>
            </p:grpSpPr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6521B568-5224-2408-BDC4-515E70F4297A}"/>
                    </a:ext>
                  </a:extLst>
                </p:cNvPr>
                <p:cNvSpPr/>
                <p:nvPr/>
              </p:nvSpPr>
              <p:spPr>
                <a:xfrm>
                  <a:off x="4395192" y="4668224"/>
                  <a:ext cx="675045" cy="631853"/>
                </a:xfrm>
                <a:prstGeom prst="roundRect">
                  <a:avLst/>
                </a:prstGeom>
                <a:solidFill>
                  <a:srgbClr val="002F6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 Display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Up Arrow 16">
                  <a:extLst>
                    <a:ext uri="{FF2B5EF4-FFF2-40B4-BE49-F238E27FC236}">
                      <a16:creationId xmlns:a16="http://schemas.microsoft.com/office/drawing/2014/main" id="{F14C2276-9EA5-B8CB-9EB7-3279ACE59D32}"/>
                    </a:ext>
                  </a:extLst>
                </p:cNvPr>
                <p:cNvSpPr/>
                <p:nvPr/>
              </p:nvSpPr>
              <p:spPr>
                <a:xfrm>
                  <a:off x="4959395" y="5119287"/>
                  <a:ext cx="217534" cy="238438"/>
                </a:xfrm>
                <a:prstGeom prst="upArrow">
                  <a:avLst>
                    <a:gd name="adj1" fmla="val 33917"/>
                    <a:gd name="adj2" fmla="val 60052"/>
                  </a:avLst>
                </a:prstGeom>
                <a:solidFill>
                  <a:srgbClr val="4CB15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 Display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35" name="Graphic 29" descr="Users outline">
                <a:extLst>
                  <a:ext uri="{FF2B5EF4-FFF2-40B4-BE49-F238E27FC236}">
                    <a16:creationId xmlns:a16="http://schemas.microsoft.com/office/drawing/2014/main" id="{1BE6CF8C-193D-D53B-4028-B48CDF4E6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58770" y="4715847"/>
                <a:ext cx="545294" cy="545294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9A8ECD5-E243-E226-E6F9-6759B186A005}"/>
                </a:ext>
              </a:extLst>
            </p:cNvPr>
            <p:cNvGrpSpPr/>
            <p:nvPr/>
          </p:nvGrpSpPr>
          <p:grpSpPr>
            <a:xfrm>
              <a:off x="4299081" y="4329258"/>
              <a:ext cx="844279" cy="724392"/>
              <a:chOff x="992545" y="4683044"/>
              <a:chExt cx="778407" cy="674401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81E8-2ECB-EBA1-6CEE-CECDA9825D4F}"/>
                  </a:ext>
                </a:extLst>
              </p:cNvPr>
              <p:cNvSpPr/>
              <p:nvPr/>
            </p:nvSpPr>
            <p:spPr>
              <a:xfrm>
                <a:off x="992545" y="4683044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32" name="Graphic 12" descr="Clipboard Checked with solid fill">
                <a:extLst>
                  <a:ext uri="{FF2B5EF4-FFF2-40B4-BE49-F238E27FC236}">
                    <a16:creationId xmlns:a16="http://schemas.microsoft.com/office/drawing/2014/main" id="{31F4F4AC-5DD3-C0EE-D9ED-3395BC838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9237" y="476814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33" name="Up Arrow 16">
                <a:extLst>
                  <a:ext uri="{FF2B5EF4-FFF2-40B4-BE49-F238E27FC236}">
                    <a16:creationId xmlns:a16="http://schemas.microsoft.com/office/drawing/2014/main" id="{578E3613-5F33-1AB0-DEE7-1916746A467F}"/>
                  </a:ext>
                </a:extLst>
              </p:cNvPr>
              <p:cNvSpPr/>
              <p:nvPr/>
            </p:nvSpPr>
            <p:spPr>
              <a:xfrm>
                <a:off x="1553418" y="511900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350240-A32E-AA8A-A7ED-49048B415A42}"/>
                </a:ext>
              </a:extLst>
            </p:cNvPr>
            <p:cNvSpPr/>
            <p:nvPr/>
          </p:nvSpPr>
          <p:spPr>
            <a:xfrm>
              <a:off x="3884894" y="5128102"/>
              <a:ext cx="1578185" cy="45911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F6C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rPr>
                <a:t>Quality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F6C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rPr>
                <a:t>Improvements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44CC366-45E1-C555-0981-F86EADD68ECE}"/>
                </a:ext>
              </a:extLst>
            </p:cNvPr>
            <p:cNvGrpSpPr/>
            <p:nvPr/>
          </p:nvGrpSpPr>
          <p:grpSpPr>
            <a:xfrm>
              <a:off x="5429088" y="4313966"/>
              <a:ext cx="862637" cy="733461"/>
              <a:chOff x="2122552" y="4667752"/>
              <a:chExt cx="783812" cy="686431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0C59FE1-8642-2ED4-8553-E467251F2FC0}"/>
                  </a:ext>
                </a:extLst>
              </p:cNvPr>
              <p:cNvSpPr/>
              <p:nvPr/>
            </p:nvSpPr>
            <p:spPr>
              <a:xfrm>
                <a:off x="2122552" y="4667752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29" name="Graphic 18" descr="Dollar with solid fill">
                <a:extLst>
                  <a:ext uri="{FF2B5EF4-FFF2-40B4-BE49-F238E27FC236}">
                    <a16:creationId xmlns:a16="http://schemas.microsoft.com/office/drawing/2014/main" id="{96C01C5F-8C6F-BA8E-2813-562CB91AAD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2260021" y="4783625"/>
                <a:ext cx="400108" cy="400108"/>
              </a:xfrm>
              <a:prstGeom prst="rect">
                <a:avLst/>
              </a:prstGeom>
            </p:spPr>
          </p:pic>
          <p:sp>
            <p:nvSpPr>
              <p:cNvPr id="30" name="Up Arrow 16">
                <a:extLst>
                  <a:ext uri="{FF2B5EF4-FFF2-40B4-BE49-F238E27FC236}">
                    <a16:creationId xmlns:a16="http://schemas.microsoft.com/office/drawing/2014/main" id="{91533915-CC85-C248-5468-E016AA96180E}"/>
                  </a:ext>
                </a:extLst>
              </p:cNvPr>
              <p:cNvSpPr/>
              <p:nvPr/>
            </p:nvSpPr>
            <p:spPr>
              <a:xfrm>
                <a:off x="2688830" y="5115745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FED294E-C73C-6F75-E1DB-709D144DAC77}"/>
                </a:ext>
              </a:extLst>
            </p:cNvPr>
            <p:cNvGrpSpPr/>
            <p:nvPr/>
          </p:nvGrpSpPr>
          <p:grpSpPr>
            <a:xfrm>
              <a:off x="6585576" y="4317278"/>
              <a:ext cx="846901" cy="735775"/>
              <a:chOff x="3279040" y="4671064"/>
              <a:chExt cx="781737" cy="689501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A16CF31-BF09-1A6D-6CD1-1014DECC443B}"/>
                  </a:ext>
                </a:extLst>
              </p:cNvPr>
              <p:cNvSpPr/>
              <p:nvPr/>
            </p:nvSpPr>
            <p:spPr>
              <a:xfrm>
                <a:off x="3279040" y="4671064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26" name="Graphic 23" descr="Quadcopter with solid fill">
                <a:extLst>
                  <a:ext uri="{FF2B5EF4-FFF2-40B4-BE49-F238E27FC236}">
                    <a16:creationId xmlns:a16="http://schemas.microsoft.com/office/drawing/2014/main" id="{97BDFCD2-6523-0B6D-6E33-7D85A046E8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85732" y="475616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27" name="Up Arrow 16">
                <a:extLst>
                  <a:ext uri="{FF2B5EF4-FFF2-40B4-BE49-F238E27FC236}">
                    <a16:creationId xmlns:a16="http://schemas.microsoft.com/office/drawing/2014/main" id="{65CDD6B6-0257-F6D4-F2BE-BA9CD07B445D}"/>
                  </a:ext>
                </a:extLst>
              </p:cNvPr>
              <p:cNvSpPr/>
              <p:nvPr/>
            </p:nvSpPr>
            <p:spPr>
              <a:xfrm>
                <a:off x="3843243" y="512212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2723DC1-876C-3242-A911-714E13FED71A}"/>
                </a:ext>
              </a:extLst>
            </p:cNvPr>
            <p:cNvSpPr/>
            <p:nvPr/>
          </p:nvSpPr>
          <p:spPr>
            <a:xfrm>
              <a:off x="7346409" y="5128104"/>
              <a:ext cx="1591051" cy="45911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F6C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rPr>
                <a:t>Value to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2F6C"/>
                  </a:solidFill>
                  <a:effectLst/>
                  <a:uLnTx/>
                  <a:uFillTx/>
                  <a:latin typeface="Aptos Display" panose="020B0004020202020204" pitchFamily="34" charset="0"/>
                  <a:ea typeface="+mn-ea"/>
                  <a:cs typeface="+mn-cs"/>
                </a:rPr>
                <a:t>Stakeholders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2631D8-8613-EEF6-10D8-EDEA94A49527}"/>
                </a:ext>
              </a:extLst>
            </p:cNvPr>
            <p:cNvGrpSpPr/>
            <p:nvPr/>
          </p:nvGrpSpPr>
          <p:grpSpPr>
            <a:xfrm>
              <a:off x="7701728" y="4314438"/>
              <a:ext cx="861003" cy="735775"/>
              <a:chOff x="4395192" y="4668224"/>
              <a:chExt cx="781737" cy="68950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E931721-695F-812B-1C8A-62A6A46186F7}"/>
                  </a:ext>
                </a:extLst>
              </p:cNvPr>
              <p:cNvGrpSpPr/>
              <p:nvPr/>
            </p:nvGrpSpPr>
            <p:grpSpPr>
              <a:xfrm>
                <a:off x="4395192" y="4668224"/>
                <a:ext cx="781737" cy="689501"/>
                <a:chOff x="4395192" y="4668224"/>
                <a:chExt cx="781737" cy="689501"/>
              </a:xfrm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489F78E4-1542-A7F4-854D-EC4A3946978D}"/>
                    </a:ext>
                  </a:extLst>
                </p:cNvPr>
                <p:cNvSpPr/>
                <p:nvPr/>
              </p:nvSpPr>
              <p:spPr>
                <a:xfrm>
                  <a:off x="4395192" y="4668224"/>
                  <a:ext cx="675045" cy="631853"/>
                </a:xfrm>
                <a:prstGeom prst="roundRect">
                  <a:avLst/>
                </a:prstGeom>
                <a:solidFill>
                  <a:srgbClr val="002F6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 Display" panose="020B00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Up Arrow 16">
                  <a:extLst>
                    <a:ext uri="{FF2B5EF4-FFF2-40B4-BE49-F238E27FC236}">
                      <a16:creationId xmlns:a16="http://schemas.microsoft.com/office/drawing/2014/main" id="{E8F10FE9-E7C9-4CBC-7607-FC7214B9CC69}"/>
                    </a:ext>
                  </a:extLst>
                </p:cNvPr>
                <p:cNvSpPr/>
                <p:nvPr/>
              </p:nvSpPr>
              <p:spPr>
                <a:xfrm>
                  <a:off x="4959395" y="5119287"/>
                  <a:ext cx="217534" cy="238438"/>
                </a:xfrm>
                <a:prstGeom prst="upArrow">
                  <a:avLst>
                    <a:gd name="adj1" fmla="val 33917"/>
                    <a:gd name="adj2" fmla="val 60052"/>
                  </a:avLst>
                </a:prstGeom>
                <a:solidFill>
                  <a:srgbClr val="4CB15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 Display" panose="020B0004020202020204" pitchFamily="34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22" name="Graphic 29" descr="Users outline">
                <a:extLst>
                  <a:ext uri="{FF2B5EF4-FFF2-40B4-BE49-F238E27FC236}">
                    <a16:creationId xmlns:a16="http://schemas.microsoft.com/office/drawing/2014/main" id="{CA428792-E463-35B7-06FD-622AB73E1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58770" y="4715847"/>
                <a:ext cx="545294" cy="545294"/>
              </a:xfrm>
              <a:prstGeom prst="rect">
                <a:avLst/>
              </a:prstGeom>
            </p:spPr>
          </p:pic>
        </p:grpSp>
        <p:pic>
          <p:nvPicPr>
            <p:cNvPr id="20" name="Graphic 12" descr="Clipboard Checked with solid fill">
              <a:extLst>
                <a:ext uri="{FF2B5EF4-FFF2-40B4-BE49-F238E27FC236}">
                  <a16:creationId xmlns:a16="http://schemas.microsoft.com/office/drawing/2014/main" id="{D22FC9B0-BE6C-270A-E147-3EFFFFE342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414802" y="4420662"/>
              <a:ext cx="500730" cy="495883"/>
            </a:xfrm>
            <a:prstGeom prst="rect">
              <a:avLst/>
            </a:prstGeom>
          </p:spPr>
        </p:pic>
      </p:grpSp>
      <p:pic>
        <p:nvPicPr>
          <p:cNvPr id="47" name="Picture 46" descr="A group of airplanes in a factory&#10;&#10;AI-generated content may be incorrect.">
            <a:extLst>
              <a:ext uri="{FF2B5EF4-FFF2-40B4-BE49-F238E27FC236}">
                <a16:creationId xmlns:a16="http://schemas.microsoft.com/office/drawing/2014/main" id="{C82D25A0-508F-B797-DD83-3F4000DB1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52" y="1217494"/>
            <a:ext cx="3230730" cy="48460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8F7C4A3-BE5E-E299-45C8-528DEC2AADA6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663FEFA3-99DB-4BDD-C07A-3BC280BE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2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9">
            <a:extLst>
              <a:ext uri="{FF2B5EF4-FFF2-40B4-BE49-F238E27FC236}">
                <a16:creationId xmlns:a16="http://schemas.microsoft.com/office/drawing/2014/main" id="{7C0FB7C1-3652-ED37-443A-08C60AEDBADF}"/>
              </a:ext>
            </a:extLst>
          </p:cNvPr>
          <p:cNvSpPr/>
          <p:nvPr/>
        </p:nvSpPr>
        <p:spPr>
          <a:xfrm>
            <a:off x="3271354" y="1598945"/>
            <a:ext cx="2447905" cy="2560320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: Rounded Corners 9">
            <a:extLst>
              <a:ext uri="{FF2B5EF4-FFF2-40B4-BE49-F238E27FC236}">
                <a16:creationId xmlns:a16="http://schemas.microsoft.com/office/drawing/2014/main" id="{971EEBC6-C055-9C6A-E135-3B88C37538A0}"/>
              </a:ext>
            </a:extLst>
          </p:cNvPr>
          <p:cNvSpPr/>
          <p:nvPr/>
        </p:nvSpPr>
        <p:spPr>
          <a:xfrm>
            <a:off x="6381035" y="1638646"/>
            <a:ext cx="2447905" cy="2560320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Rectangle: Rounded Corners 9">
            <a:extLst>
              <a:ext uri="{FF2B5EF4-FFF2-40B4-BE49-F238E27FC236}">
                <a16:creationId xmlns:a16="http://schemas.microsoft.com/office/drawing/2014/main" id="{30962259-69A5-94B4-B9A1-7E5F7683972C}"/>
              </a:ext>
            </a:extLst>
          </p:cNvPr>
          <p:cNvSpPr/>
          <p:nvPr/>
        </p:nvSpPr>
        <p:spPr>
          <a:xfrm>
            <a:off x="9351026" y="1630538"/>
            <a:ext cx="2447905" cy="2560320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3B6F6E69-89E0-7A6B-1AFF-837DBC301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293514" y="2429667"/>
            <a:ext cx="622947" cy="62294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9CC58A3-B750-516D-53AF-E892992E178D}"/>
              </a:ext>
            </a:extLst>
          </p:cNvPr>
          <p:cNvSpPr txBox="1">
            <a:spLocks/>
          </p:cNvSpPr>
          <p:nvPr/>
        </p:nvSpPr>
        <p:spPr>
          <a:xfrm>
            <a:off x="3175982" y="4465255"/>
            <a:ext cx="2896331" cy="11505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Reduce maintenance costs</a:t>
            </a:r>
          </a:p>
          <a:p>
            <a:pPr marL="36576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Seamlessly scale production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600751C-90C8-385F-2D28-4A38D9045468}"/>
              </a:ext>
            </a:extLst>
          </p:cNvPr>
          <p:cNvSpPr txBox="1">
            <a:spLocks/>
          </p:cNvSpPr>
          <p:nvPr/>
        </p:nvSpPr>
        <p:spPr>
          <a:xfrm>
            <a:off x="6285664" y="4465255"/>
            <a:ext cx="2638647" cy="8239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Original project</a:t>
            </a:r>
          </a:p>
          <a:p>
            <a:pPr marL="36576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State of the art concepts</a:t>
            </a:r>
          </a:p>
          <a:p>
            <a:pPr marL="36576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Becoming an R&amp;D center</a:t>
            </a:r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32CFD4BE-B83A-5FC1-3577-93E1A9C0D2B2}"/>
              </a:ext>
            </a:extLst>
          </p:cNvPr>
          <p:cNvSpPr/>
          <p:nvPr/>
        </p:nvSpPr>
        <p:spPr>
          <a:xfrm>
            <a:off x="274978" y="1638646"/>
            <a:ext cx="2447905" cy="2560320"/>
          </a:xfrm>
          <a:prstGeom prst="roundRect">
            <a:avLst>
              <a:gd name="adj" fmla="val 5917"/>
            </a:avLst>
          </a:prstGeom>
          <a:ln>
            <a:solidFill>
              <a:schemeClr val="bg1">
                <a:lumMod val="95000"/>
              </a:schemeClr>
            </a:solidFill>
          </a:ln>
          <a:effectLst>
            <a:glow rad="63500">
              <a:schemeClr val="tx2">
                <a:lumMod val="60000"/>
                <a:lumOff val="40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A66AC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5ADAB8-618B-54B8-9DD2-BD2C705CFD57}"/>
              </a:ext>
            </a:extLst>
          </p:cNvPr>
          <p:cNvGrpSpPr/>
          <p:nvPr/>
        </p:nvGrpSpPr>
        <p:grpSpPr>
          <a:xfrm>
            <a:off x="1109727" y="2118076"/>
            <a:ext cx="778407" cy="674401"/>
            <a:chOff x="1863826" y="2096897"/>
            <a:chExt cx="778407" cy="6744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D3393BB-4688-E4B7-9EC7-3CE2C5E4C31A}"/>
                </a:ext>
              </a:extLst>
            </p:cNvPr>
            <p:cNvSpPr/>
            <p:nvPr/>
          </p:nvSpPr>
          <p:spPr>
            <a:xfrm>
              <a:off x="1863826" y="2096897"/>
              <a:ext cx="675045" cy="631853"/>
            </a:xfrm>
            <a:prstGeom prst="roundRect">
              <a:avLst/>
            </a:prstGeom>
            <a:solidFill>
              <a:srgbClr val="002F6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Graphic 10" descr="Clipboard Checked with solid fill">
              <a:extLst>
                <a:ext uri="{FF2B5EF4-FFF2-40B4-BE49-F238E27FC236}">
                  <a16:creationId xmlns:a16="http://schemas.microsoft.com/office/drawing/2014/main" id="{FE28C87D-C929-ECEB-AC5F-56EA75472A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970518" y="2181993"/>
              <a:ext cx="461662" cy="461662"/>
            </a:xfrm>
            <a:prstGeom prst="rect">
              <a:avLst/>
            </a:prstGeom>
          </p:spPr>
        </p:pic>
        <p:sp>
          <p:nvSpPr>
            <p:cNvPr id="12" name="Up Arrow 16">
              <a:extLst>
                <a:ext uri="{FF2B5EF4-FFF2-40B4-BE49-F238E27FC236}">
                  <a16:creationId xmlns:a16="http://schemas.microsoft.com/office/drawing/2014/main" id="{3E49698C-75F9-D1B0-B9F1-2B225E1D3C9E}"/>
                </a:ext>
              </a:extLst>
            </p:cNvPr>
            <p:cNvSpPr/>
            <p:nvPr/>
          </p:nvSpPr>
          <p:spPr>
            <a:xfrm>
              <a:off x="2424699" y="2532860"/>
              <a:ext cx="217534" cy="238438"/>
            </a:xfrm>
            <a:prstGeom prst="upArrow">
              <a:avLst>
                <a:gd name="adj1" fmla="val 33917"/>
                <a:gd name="adj2" fmla="val 60052"/>
              </a:avLst>
            </a:prstGeom>
            <a:solidFill>
              <a:srgbClr val="4CB1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36F0581-869F-3BC7-46F5-5A5D42180B1C}"/>
              </a:ext>
            </a:extLst>
          </p:cNvPr>
          <p:cNvSpPr/>
          <p:nvPr/>
        </p:nvSpPr>
        <p:spPr>
          <a:xfrm>
            <a:off x="3364082" y="2934592"/>
            <a:ext cx="2262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Economical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D0AD4F-6F39-8543-4B18-9F278AA2D035}"/>
              </a:ext>
            </a:extLst>
          </p:cNvPr>
          <p:cNvSpPr/>
          <p:nvPr/>
        </p:nvSpPr>
        <p:spPr>
          <a:xfrm>
            <a:off x="6473763" y="3119257"/>
            <a:ext cx="2262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Value to UAE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EF0D28-0CDA-4626-8CE0-50F4D3CB6359}"/>
              </a:ext>
            </a:extLst>
          </p:cNvPr>
          <p:cNvGrpSpPr/>
          <p:nvPr/>
        </p:nvGrpSpPr>
        <p:grpSpPr>
          <a:xfrm>
            <a:off x="4103400" y="2106046"/>
            <a:ext cx="783812" cy="686431"/>
            <a:chOff x="5479870" y="2084867"/>
            <a:chExt cx="783812" cy="68643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FB970AB-E75B-A2A2-7EC4-0EBD841D9159}"/>
                </a:ext>
              </a:extLst>
            </p:cNvPr>
            <p:cNvSpPr/>
            <p:nvPr/>
          </p:nvSpPr>
          <p:spPr>
            <a:xfrm>
              <a:off x="5479870" y="2084867"/>
              <a:ext cx="675045" cy="631853"/>
            </a:xfrm>
            <a:prstGeom prst="roundRect">
              <a:avLst/>
            </a:prstGeom>
            <a:solidFill>
              <a:srgbClr val="002F6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Graphic 16" descr="Dollar with solid fill">
              <a:extLst>
                <a:ext uri="{FF2B5EF4-FFF2-40B4-BE49-F238E27FC236}">
                  <a16:creationId xmlns:a16="http://schemas.microsoft.com/office/drawing/2014/main" id="{9C55FC29-2ADB-3BF8-093D-1177E78F45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617339" y="2200740"/>
              <a:ext cx="400108" cy="400108"/>
            </a:xfrm>
            <a:prstGeom prst="rect">
              <a:avLst/>
            </a:prstGeom>
          </p:spPr>
        </p:pic>
        <p:sp>
          <p:nvSpPr>
            <p:cNvPr id="18" name="Up Arrow 16">
              <a:extLst>
                <a:ext uri="{FF2B5EF4-FFF2-40B4-BE49-F238E27FC236}">
                  <a16:creationId xmlns:a16="http://schemas.microsoft.com/office/drawing/2014/main" id="{7E244752-73CF-A27A-BD2D-F6296C1E36B0}"/>
                </a:ext>
              </a:extLst>
            </p:cNvPr>
            <p:cNvSpPr/>
            <p:nvPr/>
          </p:nvSpPr>
          <p:spPr>
            <a:xfrm>
              <a:off x="6046148" y="2532860"/>
              <a:ext cx="217534" cy="238438"/>
            </a:xfrm>
            <a:prstGeom prst="upArrow">
              <a:avLst>
                <a:gd name="adj1" fmla="val 33917"/>
                <a:gd name="adj2" fmla="val 60052"/>
              </a:avLst>
            </a:prstGeom>
            <a:solidFill>
              <a:srgbClr val="4CB1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2D1E46-319F-2C93-131B-C83DA3B6F116}"/>
              </a:ext>
            </a:extLst>
          </p:cNvPr>
          <p:cNvGrpSpPr/>
          <p:nvPr/>
        </p:nvGrpSpPr>
        <p:grpSpPr>
          <a:xfrm>
            <a:off x="7214119" y="2102976"/>
            <a:ext cx="781737" cy="689501"/>
            <a:chOff x="9591902" y="2081797"/>
            <a:chExt cx="781737" cy="68950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7184322-64CD-FC16-6F10-8645D3044A60}"/>
                </a:ext>
              </a:extLst>
            </p:cNvPr>
            <p:cNvSpPr/>
            <p:nvPr/>
          </p:nvSpPr>
          <p:spPr>
            <a:xfrm>
              <a:off x="9591902" y="2081797"/>
              <a:ext cx="675045" cy="631853"/>
            </a:xfrm>
            <a:prstGeom prst="roundRect">
              <a:avLst/>
            </a:prstGeom>
            <a:solidFill>
              <a:srgbClr val="002F6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1" name="Graphic 20" descr="Quadcopter with solid fill">
              <a:extLst>
                <a:ext uri="{FF2B5EF4-FFF2-40B4-BE49-F238E27FC236}">
                  <a16:creationId xmlns:a16="http://schemas.microsoft.com/office/drawing/2014/main" id="{49CC21A2-0D42-4B35-765D-2783A71482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698594" y="2166893"/>
              <a:ext cx="461662" cy="461662"/>
            </a:xfrm>
            <a:prstGeom prst="rect">
              <a:avLst/>
            </a:prstGeom>
          </p:spPr>
        </p:pic>
        <p:sp>
          <p:nvSpPr>
            <p:cNvPr id="22" name="Up Arrow 16">
              <a:extLst>
                <a:ext uri="{FF2B5EF4-FFF2-40B4-BE49-F238E27FC236}">
                  <a16:creationId xmlns:a16="http://schemas.microsoft.com/office/drawing/2014/main" id="{DAA09CBF-8A1C-1C9B-1EB8-43371F766290}"/>
                </a:ext>
              </a:extLst>
            </p:cNvPr>
            <p:cNvSpPr/>
            <p:nvPr/>
          </p:nvSpPr>
          <p:spPr>
            <a:xfrm>
              <a:off x="10156105" y="2532860"/>
              <a:ext cx="217534" cy="238438"/>
            </a:xfrm>
            <a:prstGeom prst="upArrow">
              <a:avLst>
                <a:gd name="adj1" fmla="val 33917"/>
                <a:gd name="adj2" fmla="val 60052"/>
              </a:avLst>
            </a:prstGeom>
            <a:solidFill>
              <a:srgbClr val="4CB1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4D7A3DA8-CE50-FDD9-2294-25BC15857C0E}"/>
              </a:ext>
            </a:extLst>
          </p:cNvPr>
          <p:cNvSpPr txBox="1">
            <a:spLocks/>
          </p:cNvSpPr>
          <p:nvPr/>
        </p:nvSpPr>
        <p:spPr>
          <a:xfrm>
            <a:off x="179393" y="4480114"/>
            <a:ext cx="2639075" cy="1063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Automatic detection of non-conformities</a:t>
            </a:r>
          </a:p>
          <a:p>
            <a:pPr marL="36576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Production assistance</a:t>
            </a:r>
          </a:p>
          <a:p>
            <a:pPr marL="36576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Less required personnel </a:t>
            </a:r>
          </a:p>
          <a:p>
            <a:pPr marL="36576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F8FA9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5AEC5304-2427-4192-94FC-688326F33D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63505" y="2429667"/>
            <a:ext cx="622947" cy="622947"/>
          </a:xfrm>
          <a:prstGeom prst="rect">
            <a:avLst/>
          </a:prstGeom>
        </p:spPr>
      </p:pic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1A862E2-8EA9-D5CA-953B-C785E41618CB}"/>
              </a:ext>
            </a:extLst>
          </p:cNvPr>
          <p:cNvSpPr txBox="1">
            <a:spLocks/>
          </p:cNvSpPr>
          <p:nvPr/>
        </p:nvSpPr>
        <p:spPr>
          <a:xfrm>
            <a:off x="9255655" y="4465254"/>
            <a:ext cx="2638647" cy="12705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F8FA9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Inspection &amp; assembly verification can be used in different business areas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12571F-A42F-6719-9224-86531705FBFF}"/>
              </a:ext>
            </a:extLst>
          </p:cNvPr>
          <p:cNvSpPr/>
          <p:nvPr/>
        </p:nvSpPr>
        <p:spPr>
          <a:xfrm>
            <a:off x="9443754" y="3119257"/>
            <a:ext cx="2262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Value to Stakeholders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B30C95-3A19-8A53-8FA0-C5A3F91422BA}"/>
              </a:ext>
            </a:extLst>
          </p:cNvPr>
          <p:cNvGrpSpPr/>
          <p:nvPr/>
        </p:nvGrpSpPr>
        <p:grpSpPr>
          <a:xfrm>
            <a:off x="10184110" y="2102976"/>
            <a:ext cx="781737" cy="689501"/>
            <a:chOff x="9591902" y="2081797"/>
            <a:chExt cx="781737" cy="68950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488E4D-BBFA-B908-2E0F-6C8309FD6141}"/>
                </a:ext>
              </a:extLst>
            </p:cNvPr>
            <p:cNvSpPr/>
            <p:nvPr/>
          </p:nvSpPr>
          <p:spPr>
            <a:xfrm>
              <a:off x="9591902" y="2081797"/>
              <a:ext cx="675045" cy="631853"/>
            </a:xfrm>
            <a:prstGeom prst="roundRect">
              <a:avLst/>
            </a:prstGeom>
            <a:solidFill>
              <a:srgbClr val="002F6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Up Arrow 16">
              <a:extLst>
                <a:ext uri="{FF2B5EF4-FFF2-40B4-BE49-F238E27FC236}">
                  <a16:creationId xmlns:a16="http://schemas.microsoft.com/office/drawing/2014/main" id="{576682EA-EE23-FA2F-9DC7-6F6BC489759B}"/>
                </a:ext>
              </a:extLst>
            </p:cNvPr>
            <p:cNvSpPr/>
            <p:nvPr/>
          </p:nvSpPr>
          <p:spPr>
            <a:xfrm>
              <a:off x="10156105" y="2532860"/>
              <a:ext cx="217534" cy="238438"/>
            </a:xfrm>
            <a:prstGeom prst="upArrow">
              <a:avLst>
                <a:gd name="adj1" fmla="val 33917"/>
                <a:gd name="adj2" fmla="val 60052"/>
              </a:avLst>
            </a:prstGeom>
            <a:solidFill>
              <a:srgbClr val="4CB1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0" name="Graphic 29" descr="Users outline">
            <a:extLst>
              <a:ext uri="{FF2B5EF4-FFF2-40B4-BE49-F238E27FC236}">
                <a16:creationId xmlns:a16="http://schemas.microsoft.com/office/drawing/2014/main" id="{BF8A7402-6482-9E8B-D922-A52E8EE11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9299" y="2158370"/>
            <a:ext cx="545294" cy="54529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6797B1A-D34D-FF76-E9E8-42A717430024}"/>
              </a:ext>
            </a:extLst>
          </p:cNvPr>
          <p:cNvSpPr/>
          <p:nvPr/>
        </p:nvSpPr>
        <p:spPr>
          <a:xfrm>
            <a:off x="367706" y="2930599"/>
            <a:ext cx="2262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Quality Improvements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5079F9-F5AA-7FD1-9430-57ED10FA0144}"/>
              </a:ext>
            </a:extLst>
          </p:cNvPr>
          <p:cNvSpPr/>
          <p:nvPr/>
        </p:nvSpPr>
        <p:spPr>
          <a:xfrm>
            <a:off x="0" y="5807131"/>
            <a:ext cx="2997861" cy="155665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F3CF58-F897-B6EA-02C8-9B6830048102}"/>
              </a:ext>
            </a:extLst>
          </p:cNvPr>
          <p:cNvSpPr/>
          <p:nvPr/>
        </p:nvSpPr>
        <p:spPr>
          <a:xfrm>
            <a:off x="3074453" y="5806451"/>
            <a:ext cx="2997861" cy="155665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457485-0BCF-6FB6-23FE-64A3867B03A8}"/>
              </a:ext>
            </a:extLst>
          </p:cNvPr>
          <p:cNvSpPr/>
          <p:nvPr/>
        </p:nvSpPr>
        <p:spPr>
          <a:xfrm>
            <a:off x="6134377" y="5806451"/>
            <a:ext cx="2997861" cy="155665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66F819-7FBF-9CF8-4EEA-11C03FE3E145}"/>
              </a:ext>
            </a:extLst>
          </p:cNvPr>
          <p:cNvSpPr/>
          <p:nvPr/>
        </p:nvSpPr>
        <p:spPr>
          <a:xfrm>
            <a:off x="9194139" y="5806451"/>
            <a:ext cx="2997861" cy="155665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itle 16">
            <a:extLst>
              <a:ext uri="{FF2B5EF4-FFF2-40B4-BE49-F238E27FC236}">
                <a16:creationId xmlns:a16="http://schemas.microsoft.com/office/drawing/2014/main" id="{625586FB-9DBE-4B1B-9750-D51A8EC96FB8}"/>
              </a:ext>
            </a:extLst>
          </p:cNvPr>
          <p:cNvSpPr txBox="1">
            <a:spLocks/>
          </p:cNvSpPr>
          <p:nvPr/>
        </p:nvSpPr>
        <p:spPr>
          <a:xfrm>
            <a:off x="522516" y="504671"/>
            <a:ext cx="10983686" cy="684362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AI For Operations </a:t>
            </a: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| Value</a:t>
            </a:r>
            <a:b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9F957F-DA83-53D2-BDDE-C6BB5034ED17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7CD97F3C-9807-EFF1-59AC-FC436C2A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/>
      <p:bldP spid="7" grpId="0"/>
      <p:bldP spid="8" grpId="0" animBg="1"/>
      <p:bldP spid="13" grpId="0"/>
      <p:bldP spid="14" grpId="0"/>
      <p:bldP spid="23" grpId="0"/>
      <p:bldP spid="25" grpId="0"/>
      <p:bldP spid="26" grpId="0"/>
      <p:bldP spid="31" grpId="0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E81755-763E-3998-DE79-3EE07D2F0D38}"/>
              </a:ext>
            </a:extLst>
          </p:cNvPr>
          <p:cNvSpPr/>
          <p:nvPr/>
        </p:nvSpPr>
        <p:spPr>
          <a:xfrm>
            <a:off x="1029802" y="2174424"/>
            <a:ext cx="2032551" cy="20434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Collect Proprietary Dataset for Build &amp; Assembly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FA6078-98B7-DD5B-7815-D5E91EC7AE00}"/>
              </a:ext>
            </a:extLst>
          </p:cNvPr>
          <p:cNvSpPr/>
          <p:nvPr/>
        </p:nvSpPr>
        <p:spPr>
          <a:xfrm>
            <a:off x="3759751" y="2199825"/>
            <a:ext cx="2032551" cy="20434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Working Model Architecture for Action Detection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7BEF9B-43D3-8D33-F369-78AAB20426BB}"/>
              </a:ext>
            </a:extLst>
          </p:cNvPr>
          <p:cNvSpPr/>
          <p:nvPr/>
        </p:nvSpPr>
        <p:spPr>
          <a:xfrm>
            <a:off x="9219649" y="2199825"/>
            <a:ext cx="2032551" cy="204341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Propose a Solution to correct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Mistakes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B36D9D-AE45-434C-CA32-BFDDA28DF2A8}"/>
              </a:ext>
            </a:extLst>
          </p:cNvPr>
          <p:cNvGrpSpPr/>
          <p:nvPr/>
        </p:nvGrpSpPr>
        <p:grpSpPr>
          <a:xfrm>
            <a:off x="5118293" y="5293278"/>
            <a:ext cx="2504549" cy="659118"/>
            <a:chOff x="914669" y="1062941"/>
            <a:chExt cx="2504549" cy="65911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F7B67E-76E5-A829-F3D4-E4880A22017E}"/>
                </a:ext>
              </a:extLst>
            </p:cNvPr>
            <p:cNvSpPr txBox="1"/>
            <p:nvPr/>
          </p:nvSpPr>
          <p:spPr>
            <a:xfrm>
              <a:off x="914669" y="1062941"/>
              <a:ext cx="2504549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marR="0" lvl="1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Calibri"/>
                  <a:cs typeface="Calibri"/>
                </a:rPr>
                <a:t>= Finished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16571F-62D1-D740-4533-E24E351FBE4F}"/>
                </a:ext>
              </a:extLst>
            </p:cNvPr>
            <p:cNvSpPr/>
            <p:nvPr/>
          </p:nvSpPr>
          <p:spPr>
            <a:xfrm>
              <a:off x="1224961" y="1124528"/>
              <a:ext cx="133581" cy="135407"/>
            </a:xfrm>
            <a:prstGeom prst="rect">
              <a:avLst/>
            </a:prstGeom>
            <a:solidFill>
              <a:srgbClr val="003478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9808FC-9B49-32CA-24AE-59EE2BD73CA4}"/>
                </a:ext>
              </a:extLst>
            </p:cNvPr>
            <p:cNvSpPr/>
            <p:nvPr/>
          </p:nvSpPr>
          <p:spPr>
            <a:xfrm>
              <a:off x="1224961" y="1293354"/>
              <a:ext cx="133581" cy="135407"/>
            </a:xfrm>
            <a:prstGeom prst="rect">
              <a:avLst/>
            </a:prstGeom>
            <a:solidFill>
              <a:srgbClr val="007396"/>
            </a:solidFill>
            <a:ln>
              <a:solidFill>
                <a:srgbClr val="7DDBD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CB7520-F2DC-1EEF-EA04-CBBC708297BE}"/>
                </a:ext>
              </a:extLst>
            </p:cNvPr>
            <p:cNvSpPr/>
            <p:nvPr/>
          </p:nvSpPr>
          <p:spPr>
            <a:xfrm>
              <a:off x="1224961" y="1475869"/>
              <a:ext cx="133581" cy="135407"/>
            </a:xfrm>
            <a:prstGeom prst="rect">
              <a:avLst/>
            </a:prstGeom>
            <a:solidFill>
              <a:srgbClr val="414042"/>
            </a:solidFill>
            <a:ln>
              <a:solidFill>
                <a:srgbClr val="172C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FE1C0A-F8D3-879F-44C6-37DAE5F84DF7}"/>
                </a:ext>
              </a:extLst>
            </p:cNvPr>
            <p:cNvSpPr txBox="1"/>
            <p:nvPr/>
          </p:nvSpPr>
          <p:spPr>
            <a:xfrm>
              <a:off x="914669" y="1231767"/>
              <a:ext cx="2504549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marR="0" lvl="1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Calibri"/>
                  <a:cs typeface="Calibri"/>
                </a:rPr>
                <a:t>= Work in Progress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6E9C82-EA5A-88DA-42CE-A17AB9E64F36}"/>
                </a:ext>
              </a:extLst>
            </p:cNvPr>
            <p:cNvSpPr txBox="1"/>
            <p:nvPr/>
          </p:nvSpPr>
          <p:spPr>
            <a:xfrm>
              <a:off x="914669" y="1414282"/>
              <a:ext cx="2504549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marR="0" lvl="1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Calibri"/>
                  <a:cs typeface="Calibri"/>
                </a:rPr>
                <a:t>= Future Work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7286F1-85A2-25F4-E208-06CCDB2CF0B3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887075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13" name="Title 15">
            <a:extLst>
              <a:ext uri="{FF2B5EF4-FFF2-40B4-BE49-F238E27FC236}">
                <a16:creationId xmlns:a16="http://schemas.microsoft.com/office/drawing/2014/main" id="{182279FB-8649-CBB2-512B-79E09D577E91}"/>
              </a:ext>
            </a:extLst>
          </p:cNvPr>
          <p:cNvSpPr txBox="1">
            <a:spLocks/>
          </p:cNvSpPr>
          <p:nvPr/>
        </p:nvSpPr>
        <p:spPr>
          <a:xfrm>
            <a:off x="268514" y="288506"/>
            <a:ext cx="10983686" cy="6843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Deliverables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2BCE062B-23E0-3BE7-8AB1-5C707F4E4A1B}"/>
              </a:ext>
            </a:extLst>
          </p:cNvPr>
          <p:cNvSpPr/>
          <p:nvPr/>
        </p:nvSpPr>
        <p:spPr>
          <a:xfrm>
            <a:off x="3176102" y="2999283"/>
            <a:ext cx="469900" cy="44450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79373192-FEBC-0671-383A-01119C9924D3}"/>
              </a:ext>
            </a:extLst>
          </p:cNvPr>
          <p:cNvSpPr/>
          <p:nvPr/>
        </p:nvSpPr>
        <p:spPr>
          <a:xfrm>
            <a:off x="5906051" y="2999283"/>
            <a:ext cx="469900" cy="444500"/>
          </a:xfrm>
          <a:prstGeom prst="chevr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2CF6084-DBAC-5C54-AB3A-392E3C58EA8D}"/>
              </a:ext>
            </a:extLst>
          </p:cNvPr>
          <p:cNvSpPr/>
          <p:nvPr/>
        </p:nvSpPr>
        <p:spPr>
          <a:xfrm>
            <a:off x="8636000" y="2999283"/>
            <a:ext cx="469900" cy="44450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1E6938-27D2-8806-FE91-2A63C050864C}"/>
              </a:ext>
            </a:extLst>
          </p:cNvPr>
          <p:cNvSpPr/>
          <p:nvPr/>
        </p:nvSpPr>
        <p:spPr>
          <a:xfrm>
            <a:off x="6546574" y="2199824"/>
            <a:ext cx="2032551" cy="20434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Integrate to a real time feedback using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Hololens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FFDF196-49B6-33D0-8893-24AF776C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58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1" i="0" u="none" strike="noStrike" kern="1200" cap="none" spc="22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7323" y="361673"/>
            <a:ext cx="6969010" cy="625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AIOps Assembly Copilot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| </a:t>
            </a:r>
            <a:r>
              <a:rPr kumimoji="0" lang="en-US" sz="2400" b="1" i="0" u="none" strike="noStrike" kern="1200" cap="none" spc="220" normalizeH="0" baseline="0" noProof="0">
                <a:ln>
                  <a:noFill/>
                </a:ln>
                <a:solidFill>
                  <a:srgbClr val="5AA9E6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THE SOLUTION</a:t>
            </a:r>
            <a:endParaRPr kumimoji="0" lang="en-US" sz="1800" b="1" i="0" u="none" strike="noStrike" kern="1200" cap="none" spc="22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5681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38528"/>
            <a:ext cx="516635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Watch 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 first-person assembly video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532888"/>
            <a:ext cx="0" cy="201168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752344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24912"/>
            <a:ext cx="516635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Recognize 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 part and procedure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319272"/>
            <a:ext cx="0" cy="201167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0080" y="3538728"/>
            <a:ext cx="548640" cy="548640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52958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511296"/>
            <a:ext cx="516635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Flag 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 missing or incorrect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105656"/>
            <a:ext cx="0" cy="201168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0080" y="4325112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43159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297680"/>
            <a:ext cx="516635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Guide 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 the operator immediately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4892040"/>
            <a:ext cx="0" cy="201168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0080" y="5111496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51023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084064"/>
            <a:ext cx="516635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Record 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 time-stamped visual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893293"/>
            <a:ext cx="4526280" cy="2148840"/>
          </a:xfrm>
          <a:prstGeom prst="roundRect">
            <a:avLst>
              <a:gd name="adj" fmla="val 6000"/>
            </a:avLst>
          </a:prstGeom>
          <a:solidFill>
            <a:srgbClr val="12263A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Picture 26" descr="hololens.jpg"/>
          <p:cNvPicPr>
            <a:picLocks noChangeAspect="1"/>
          </p:cNvPicPr>
          <p:nvPr/>
        </p:nvPicPr>
        <p:blipFill>
          <a:blip r:embed="rId2"/>
          <a:srcRect t="10179" b="10179"/>
          <a:stretch>
            <a:fillRect/>
          </a:stretch>
        </p:blipFill>
        <p:spPr>
          <a:xfrm>
            <a:off x="7150608" y="1984248"/>
            <a:ext cx="4306824" cy="19293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86600" y="4069079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1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First-person capture · Microsoft HoloLens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526280"/>
            <a:ext cx="4526280" cy="137160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69480" y="46725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150" normalizeH="0" baseline="0" noProof="0">
                <a:ln>
                  <a:noFill/>
                </a:ln>
                <a:solidFill>
                  <a:srgbClr val="0E9E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ADVANTAGE</a:t>
            </a:r>
            <a:endParaRPr kumimoji="0" sz="1100" b="1" i="0" u="none" strike="noStrike" kern="1200" cap="none" spc="150" normalizeH="0" baseline="0" noProof="0">
              <a:ln>
                <a:noFill/>
              </a:ln>
              <a:solidFill>
                <a:srgbClr val="0E9E9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269480" y="5084064"/>
            <a:ext cx="91440" cy="914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52360" y="500176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ON-SITE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5B6B7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269480" y="5358383"/>
            <a:ext cx="91440" cy="914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52360" y="527608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 IN CONTROL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5B6B7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269480" y="5632703"/>
            <a:ext cx="91440" cy="914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52360" y="5550407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AUDITABLE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5B6B7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12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AIOps  ·  Assembly Copilot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341B762-97E0-C990-AEBB-6A820723F328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CCE6C8-5DB0-68DB-F23F-EC8A046E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gine_hero.png"/>
          <p:cNvPicPr>
            <a:picLocks noChangeAspect="1"/>
          </p:cNvPicPr>
          <p:nvPr/>
        </p:nvPicPr>
        <p:blipFill>
          <a:blip r:embed="rId2"/>
          <a:srcRect t="6549" b="6549"/>
          <a:stretch>
            <a:fillRect/>
          </a:stretch>
        </p:blipFill>
        <p:spPr>
          <a:xfrm>
            <a:off x="313944" y="1417816"/>
            <a:ext cx="5282184" cy="448185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6255172" y="2368972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47780" y="2286000"/>
            <a:ext cx="316348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Recognizable aerospace form</a:t>
            </a:r>
            <a:endParaRPr kumimoji="0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55172" y="2927434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47780" y="2852928"/>
            <a:ext cx="301108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Visible internal mechanics</a:t>
            </a:r>
            <a:endParaRPr kumimoji="0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255172" y="3494362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47780" y="3419856"/>
            <a:ext cx="35563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Powered motion &amp; modular interfaces</a:t>
            </a:r>
            <a:endParaRPr kumimoji="0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255172" y="4061290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47780" y="3986784"/>
            <a:ext cx="349368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Repeatable, stageable errors</a:t>
            </a:r>
            <a:endParaRPr kumimoji="0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06440" y="489204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  <a:r>
              <a:rPr kumimoji="0" sz="1100" b="1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OBSERVABLE ACTIONS  ·  4 PHASES  ·  ~</a:t>
            </a: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  <a:r>
              <a:rPr kumimoji="0" sz="1100" b="1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</a:t>
            </a:r>
            <a:r>
              <a:rPr kumimoji="0" lang="en-US" sz="1100" b="1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</a:t>
            </a:r>
            <a:r>
              <a:rPr kumimoji="0" sz="1100" b="1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MIN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2432" y="5264065"/>
            <a:ext cx="1353312" cy="914400"/>
          </a:xfrm>
          <a:prstGeom prst="roundRect">
            <a:avLst>
              <a:gd name="adj" fmla="val 10000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4F81BD"/>
              </a:solidFill>
              <a:effectLst/>
              <a:highlight>
                <a:srgbClr val="00808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79591" y="5532458"/>
            <a:ext cx="11338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Propulsion</a:t>
            </a:r>
          </a:p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8623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06640" y="5503672"/>
            <a:ext cx="11338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 +</a:t>
            </a:r>
          </a:p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0808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78824" y="5492835"/>
            <a:ext cx="11338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Engine</a:t>
            </a:r>
          </a:p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22992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51008" y="5456597"/>
            <a:ext cx="11338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Integration</a:t>
            </a:r>
          </a:p>
          <a:p>
            <a:pPr marL="0" marR="0" lvl="0" indent="0" algn="l" defTabSz="4572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1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AIOps  ·  Assembly Copilot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C72BC3-80DB-9B0C-4525-FA3EB2733F43}"/>
              </a:ext>
            </a:extLst>
          </p:cNvPr>
          <p:cNvSpPr txBox="1"/>
          <p:nvPr/>
        </p:nvSpPr>
        <p:spPr>
          <a:xfrm>
            <a:off x="1946051" y="328958"/>
            <a:ext cx="6969010" cy="625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C-130 Engine Model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| </a:t>
            </a:r>
            <a:r>
              <a:rPr kumimoji="0" lang="en-US" sz="2400" b="1" i="0" u="none" strike="noStrike" kern="1200" cap="none" spc="220" normalizeH="0" baseline="0" noProof="0">
                <a:ln>
                  <a:noFill/>
                </a:ln>
                <a:solidFill>
                  <a:srgbClr val="5AA9E6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Assembly Platform</a:t>
            </a:r>
            <a:endParaRPr kumimoji="0" lang="en-US" sz="1800" b="1" i="0" u="none" strike="noStrike" kern="1200" cap="none" spc="22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A83162-C5AD-663C-1C7B-9129ADADF4D6}"/>
              </a:ext>
            </a:extLst>
          </p:cNvPr>
          <p:cNvCxnSpPr>
            <a:cxnSpLocks/>
          </p:cNvCxnSpPr>
          <p:nvPr/>
        </p:nvCxnSpPr>
        <p:spPr>
          <a:xfrm>
            <a:off x="594360" y="1000675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50A109-96E5-E430-3C32-104F539E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35B2752B-159B-C842-555F-8490A8199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" y="0"/>
            <a:ext cx="12187021" cy="6855199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12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AIOps  ·  Assembly Copilot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1DDDF1-A718-F680-BAF3-46E981DC4E20}"/>
              </a:ext>
            </a:extLst>
          </p:cNvPr>
          <p:cNvSpPr txBox="1"/>
          <p:nvPr/>
        </p:nvSpPr>
        <p:spPr>
          <a:xfrm>
            <a:off x="1111014" y="374012"/>
            <a:ext cx="9446920" cy="625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Building our own egocentric dataset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| </a:t>
            </a:r>
            <a:r>
              <a:rPr kumimoji="0" lang="en-US" sz="2400" b="1" i="0" u="none" strike="noStrike" kern="1200" cap="none" spc="220" normalizeH="0" baseline="0" noProof="0">
                <a:ln>
                  <a:noFill/>
                </a:ln>
                <a:solidFill>
                  <a:srgbClr val="5AA9E6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Collection</a:t>
            </a:r>
            <a:endParaRPr kumimoji="0" lang="en-US" sz="1800" b="1" i="0" u="none" strike="noStrike" kern="1200" cap="none" spc="22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E7D48D-8580-364C-178F-A3AD557610F5}"/>
              </a:ext>
            </a:extLst>
          </p:cNvPr>
          <p:cNvCxnSpPr>
            <a:cxnSpLocks/>
          </p:cNvCxnSpPr>
          <p:nvPr/>
        </p:nvCxnSpPr>
        <p:spPr>
          <a:xfrm>
            <a:off x="548640" y="1019504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7DC10-698B-3F90-748A-46C90D3B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28363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Two architectures</a:t>
            </a: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, one recipe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|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5AA9E6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Model Architecture</a:t>
            </a: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Same frozen-backbone → trained-head design. A second appearance encoder unlocks fault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3401568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9240" cy="676656"/>
          </a:xfrm>
          <a:prstGeom prst="roundRect">
            <a:avLst>
              <a:gd name="adj" fmla="val 5000"/>
            </a:avLst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 ·  Segmentation champion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76856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baseline="0" noProof="0">
                <a:ln>
                  <a:noFill/>
                </a:ln>
                <a:solidFill>
                  <a:srgbClr val="EAF2F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SSv2-giant + DiffAct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679191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2706623"/>
            <a:ext cx="452627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Frozen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452627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VideoMAEv2-giant (SSv2) · 1408-d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154679"/>
            <a:ext cx="483717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FB4C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337559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" y="3364991"/>
            <a:ext cx="452627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DiffAct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02735"/>
            <a:ext cx="452627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diffusion action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13047"/>
            <a:ext cx="483717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FB4C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3995927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4023359"/>
            <a:ext cx="452627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Viterbi decode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61103"/>
            <a:ext cx="452627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procedure-aware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36008"/>
            <a:ext cx="4837175" cy="45720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4636008"/>
            <a:ext cx="483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Sharpest boundaries — best Edit &amp; 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874519"/>
            <a:ext cx="5349240" cy="3401568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99632" y="1874519"/>
            <a:ext cx="5349240" cy="676656"/>
          </a:xfrm>
          <a:prstGeom prst="roundRect">
            <a:avLst>
              <a:gd name="adj" fmla="val 5000"/>
            </a:avLst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55664" y="1965960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  ·  Fault 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276856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50" normalizeH="0" baseline="0" noProof="0">
                <a:ln>
                  <a:noFill/>
                </a:ln>
                <a:solidFill>
                  <a:srgbClr val="EAF2F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+ ASFormer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2679191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11112" y="2706623"/>
            <a:ext cx="452627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Fusion backbone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944368"/>
            <a:ext cx="452627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giant SSv2 + InternVideo2-B14 · 2176-d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3154679"/>
            <a:ext cx="483717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FB4C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3337559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11112" y="3364991"/>
            <a:ext cx="452627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ASFormer 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602735"/>
            <a:ext cx="452627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head + Type head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813047"/>
            <a:ext cx="483717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FB4C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55664" y="3995927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11112" y="4023359"/>
            <a:ext cx="452627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Viterbi decode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4261103"/>
            <a:ext cx="452627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procedure-aware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5664" y="4636008"/>
            <a:ext cx="4837175" cy="457200"/>
          </a:xfrm>
          <a:prstGeom prst="roundRect">
            <a:avLst>
              <a:gd name="adj" fmla="val 12000"/>
            </a:avLst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55664" y="4636008"/>
            <a:ext cx="483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Only architecture that catches faults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120" normalizeH="0" baseline="0" noProof="0">
                <a:ln>
                  <a:noFill/>
                </a:ln>
                <a:solidFill>
                  <a:srgbClr val="5B6B7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AIOps  ·  Assembly Copilot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223C4DA-CEFA-A0CC-B3B6-E9CE15703E7A}"/>
              </a:ext>
            </a:extLst>
          </p:cNvPr>
          <p:cNvCxnSpPr>
            <a:cxnSpLocks/>
          </p:cNvCxnSpPr>
          <p:nvPr/>
        </p:nvCxnSpPr>
        <p:spPr>
          <a:xfrm>
            <a:off x="502920" y="1019504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48" name="Rounded Rectangle 7">
            <a:extLst>
              <a:ext uri="{FF2B5EF4-FFF2-40B4-BE49-F238E27FC236}">
                <a16:creationId xmlns:a16="http://schemas.microsoft.com/office/drawing/2014/main" id="{341BD619-7CA4-6C18-27C5-C20D5F72F33B}"/>
              </a:ext>
            </a:extLst>
          </p:cNvPr>
          <p:cNvSpPr/>
          <p:nvPr/>
        </p:nvSpPr>
        <p:spPr>
          <a:xfrm>
            <a:off x="4446990" y="5509580"/>
            <a:ext cx="3298020" cy="907544"/>
          </a:xfrm>
          <a:prstGeom prst="roundRect">
            <a:avLst>
              <a:gd name="adj" fmla="val 6000"/>
            </a:avLst>
          </a:prstGeom>
          <a:solidFill>
            <a:srgbClr val="07376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092B50-A13A-1A47-4BFB-BFC1E2A65557}"/>
              </a:ext>
            </a:extLst>
          </p:cNvPr>
          <p:cNvSpPr txBox="1"/>
          <p:nvPr/>
        </p:nvSpPr>
        <p:spPr>
          <a:xfrm>
            <a:off x="4563682" y="5767844"/>
            <a:ext cx="1308947" cy="336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100" normalizeH="0" baseline="0" noProof="0">
                <a:ln>
                  <a:noFill/>
                </a:ln>
                <a:solidFill>
                  <a:srgbClr val="8FCBE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BEST MODEL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4AE94D-6BF9-BA32-9F0C-5B5DD2BDFE04}"/>
              </a:ext>
            </a:extLst>
          </p:cNvPr>
          <p:cNvSpPr txBox="1"/>
          <p:nvPr/>
        </p:nvSpPr>
        <p:spPr>
          <a:xfrm>
            <a:off x="6645334" y="5795034"/>
            <a:ext cx="44996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8FCBE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0E8D18-E906-9A08-9ABF-7F0150F5F904}"/>
              </a:ext>
            </a:extLst>
          </p:cNvPr>
          <p:cNvSpPr txBox="1"/>
          <p:nvPr/>
        </p:nvSpPr>
        <p:spPr>
          <a:xfrm>
            <a:off x="5989320" y="5645303"/>
            <a:ext cx="6217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81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.9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D60588-F33C-E114-5FA2-154B4BB1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C5D103-AB12-E83D-0CB9-DBAE0C81B787}"/>
              </a:ext>
            </a:extLst>
          </p:cNvPr>
          <p:cNvSpPr txBox="1"/>
          <p:nvPr/>
        </p:nvSpPr>
        <p:spPr>
          <a:xfrm>
            <a:off x="2284645" y="19202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Our Solution in Action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| </a:t>
            </a: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srgbClr val="5AA9E6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Hololens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5AA9E6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 Demo</a:t>
            </a: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0136C8-BE48-F0BD-E83D-65726FE78D53}"/>
              </a:ext>
            </a:extLst>
          </p:cNvPr>
          <p:cNvCxnSpPr>
            <a:cxnSpLocks/>
          </p:cNvCxnSpPr>
          <p:nvPr/>
        </p:nvCxnSpPr>
        <p:spPr>
          <a:xfrm>
            <a:off x="502920" y="1019504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46BF-5F6C-6CD7-926F-63FCCECD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F3ED619-97BD-FAC8-A608-F98C10A0EBE5}"/>
              </a:ext>
            </a:extLst>
          </p:cNvPr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32E41F-2849-A607-93C3-A0CD62F6150C}"/>
              </a:ext>
            </a:extLst>
          </p:cNvPr>
          <p:cNvSpPr txBox="1"/>
          <p:nvPr/>
        </p:nvSpPr>
        <p:spPr>
          <a:xfrm>
            <a:off x="4045712" y="309458"/>
            <a:ext cx="432782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2263A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Learning Outcomes</a:t>
            </a: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srgbClr val="5AA9E6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49586D6-DFBA-7B0C-96D6-5335D2AA43B8}"/>
              </a:ext>
            </a:extLst>
          </p:cNvPr>
          <p:cNvCxnSpPr>
            <a:cxnSpLocks/>
          </p:cNvCxnSpPr>
          <p:nvPr/>
        </p:nvCxnSpPr>
        <p:spPr>
          <a:xfrm>
            <a:off x="502920" y="1019504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" name="TextBox 47">
            <a:extLst>
              <a:ext uri="{FF2B5EF4-FFF2-40B4-BE49-F238E27FC236}">
                <a16:creationId xmlns:a16="http://schemas.microsoft.com/office/drawing/2014/main" id="{C896E909-FD8E-BCD0-7DED-998F8B0ECDE5}"/>
              </a:ext>
            </a:extLst>
          </p:cNvPr>
          <p:cNvSpPr txBox="1"/>
          <p:nvPr/>
        </p:nvSpPr>
        <p:spPr>
          <a:xfrm>
            <a:off x="699516" y="1814218"/>
            <a:ext cx="9299617" cy="184665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Understanding PSR architectures.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Designing 3D models.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Dataset collection and labeling at scale and privacy.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Engineering  novel model architectures under hardware constraints.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41971-794E-A926-6842-9A4A02CC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7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771948-1f02-4223-abf9-2070eccbd0c1" xsi:nil="true"/>
    <lcf76f155ced4ddcb4097134ff3c332f xmlns="38e1b18b-b07f-41d0-b41d-d4c7e702404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5D7084D6AC3D43ABB6786AB9F38B91" ma:contentTypeVersion="16" ma:contentTypeDescription="Create a new document." ma:contentTypeScope="" ma:versionID="1e6f37dd0c23e04c1a392d7a137a3f37">
  <xsd:schema xmlns:xsd="http://www.w3.org/2001/XMLSchema" xmlns:xs="http://www.w3.org/2001/XMLSchema" xmlns:p="http://schemas.microsoft.com/office/2006/metadata/properties" xmlns:ns2="38e1b18b-b07f-41d0-b41d-d4c7e702404f" xmlns:ns3="e0771948-1f02-4223-abf9-2070eccbd0c1" targetNamespace="http://schemas.microsoft.com/office/2006/metadata/properties" ma:root="true" ma:fieldsID="c5148edb90762df485e32916dff14655" ns2:_="" ns3:_="">
    <xsd:import namespace="38e1b18b-b07f-41d0-b41d-d4c7e702404f"/>
    <xsd:import namespace="e0771948-1f02-4223-abf9-2070eccbd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e1b18b-b07f-41d0-b41d-d4c7e70240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517c863-f022-4ad7-9ee9-eb5cd15123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771948-1f02-4223-abf9-2070eccbd0c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bf8ef49-f2ff-4959-836a-c340c9ea6106}" ma:internalName="TaxCatchAll" ma:showField="CatchAllData" ma:web="e0771948-1f02-4223-abf9-2070eccbd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539ED1-E6A7-43EA-B653-6E876C3D88AF}">
  <ds:schemaRefs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38e1b18b-b07f-41d0-b41d-d4c7e702404f"/>
    <ds:schemaRef ds:uri="e0771948-1f02-4223-abf9-2070eccbd0c1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AB16D5D-0D8B-42FC-B96A-72D0CA172013}">
  <ds:schemaRefs>
    <ds:schemaRef ds:uri="38e1b18b-b07f-41d0-b41d-d4c7e702404f"/>
    <ds:schemaRef ds:uri="e0771948-1f02-4223-abf9-2070eccbd0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01BEFE-9615-4C4E-9EF7-0F940EB630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197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Aptos SemiBold</vt:lpstr>
      <vt:lpstr>Arial</vt:lpstr>
      <vt:lpstr>Avenir Next LT Pro Demi</vt:lpstr>
      <vt:lpstr>Bahnschrift</vt:lpstr>
      <vt:lpstr>Calibri</vt:lpstr>
      <vt:lpstr>Cy Grotesk V3 Key</vt:lpstr>
      <vt:lpstr>Cy Grotesk V3 Key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AIOps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Ghebremichael, Nahom T (AE)</dc:creator>
  <cp:keywords/>
  <dc:description>generated using python-pptx</dc:description>
  <cp:lastModifiedBy>Ghebremichael, Nahom T (AE)</cp:lastModifiedBy>
  <cp:revision>4</cp:revision>
  <dcterms:created xsi:type="dcterms:W3CDTF">2013-01-27T09:14:16Z</dcterms:created>
  <dcterms:modified xsi:type="dcterms:W3CDTF">2026-08-05T18:19:59Z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c884d6-46ec-40ca-a4e4-d9a7c6a7c5c9_Enabled">
    <vt:lpwstr>true</vt:lpwstr>
  </property>
  <property fmtid="{D5CDD505-2E9C-101B-9397-08002B2CF9AE}" pid="3" name="MSIP_Label_aac884d6-46ec-40ca-a4e4-d9a7c6a7c5c9_SetDate">
    <vt:lpwstr>2026-08-05T05:34:11Z</vt:lpwstr>
  </property>
  <property fmtid="{D5CDD505-2E9C-101B-9397-08002B2CF9AE}" pid="4" name="MSIP_Label_aac884d6-46ec-40ca-a4e4-d9a7c6a7c5c9_Method">
    <vt:lpwstr>Privileged</vt:lpwstr>
  </property>
  <property fmtid="{D5CDD505-2E9C-101B-9397-08002B2CF9AE}" pid="5" name="MSIP_Label_aac884d6-46ec-40ca-a4e4-d9a7c6a7c5c9_Name">
    <vt:lpwstr>Unrestricted</vt:lpwstr>
  </property>
  <property fmtid="{D5CDD505-2E9C-101B-9397-08002B2CF9AE}" pid="6" name="MSIP_Label_aac884d6-46ec-40ca-a4e4-d9a7c6a7c5c9_SiteId">
    <vt:lpwstr>3465c5b6-dc75-4b16-8bc3-8e00d98d1b0d</vt:lpwstr>
  </property>
  <property fmtid="{D5CDD505-2E9C-101B-9397-08002B2CF9AE}" pid="7" name="MSIP_Label_aac884d6-46ec-40ca-a4e4-d9a7c6a7c5c9_ActionId">
    <vt:lpwstr>ffaacb9d-adf9-4881-aea5-6165968b729f</vt:lpwstr>
  </property>
  <property fmtid="{D5CDD505-2E9C-101B-9397-08002B2CF9AE}" pid="8" name="MSIP_Label_aac884d6-46ec-40ca-a4e4-d9a7c6a7c5c9_ContentBits">
    <vt:lpwstr>0</vt:lpwstr>
  </property>
  <property fmtid="{D5CDD505-2E9C-101B-9397-08002B2CF9AE}" pid="9" name="MSIP_Label_aac884d6-46ec-40ca-a4e4-d9a7c6a7c5c9_Tag">
    <vt:lpwstr>10, 0, 1, 1</vt:lpwstr>
  </property>
  <property fmtid="{D5CDD505-2E9C-101B-9397-08002B2CF9AE}" pid="10" name="ContentTypeId">
    <vt:lpwstr>0x0101000E5D7084D6AC3D43ABB6786AB9F38B91</vt:lpwstr>
  </property>
  <property fmtid="{D5CDD505-2E9C-101B-9397-08002B2CF9AE}" pid="11" name="MediaServiceImageTags">
    <vt:lpwstr/>
  </property>
</Properties>
</file>