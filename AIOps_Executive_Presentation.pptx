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F1@50</c:v>
                </c:pt>
              </c:strCache>
            </c:strRef>
          </c:tx>
          <c:dPt>
            <c:idx val="0"/>
            <c:spPr>
              <a:solidFill>
                <a:srgbClr val="073763"/>
              </a:solidFill>
            </c:spPr>
          </c:dPt>
          <c:dPt>
            <c:idx val="1"/>
            <c:spPr>
              <a:solidFill>
                <a:srgbClr val="073763"/>
              </a:solidFill>
            </c:spPr>
          </c:dPt>
          <c:dPt>
            <c:idx val="2"/>
            <c:spPr>
              <a:solidFill>
                <a:srgbClr val="073763"/>
              </a:solidFill>
            </c:spPr>
          </c:dPt>
          <c:dPt>
            <c:idx val="3"/>
            <c:spPr>
              <a:solidFill>
                <a:srgbClr val="073763"/>
              </a:solidFill>
            </c:spPr>
          </c:dPt>
          <c:dPt>
            <c:idx val="4"/>
            <c:spPr>
              <a:solidFill>
                <a:srgbClr val="F2B138"/>
              </a:solidFill>
            </c:spPr>
          </c:dPt>
          <c:cat>
            <c:strRef>
              <c:f>Sheet1!$A$2:$A$6</c:f>
              <c:strCache>
                <c:ptCount val="5"/>
                <c:pt idx="0">
                  <c:v>v1
baseline</c:v>
                </c:pt>
                <c:pt idx="1">
                  <c:v>v1
+Viterbi</c:v>
                </c:pt>
                <c:pt idx="2">
                  <c:v>v2
ASFormer</c:v>
                </c:pt>
                <c:pt idx="3">
                  <c:v>v2
DiffAct</c:v>
                </c:pt>
                <c:pt idx="4">
                  <c:v>v4 Fusion
+DiffAct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56.3</c:v>
                </c:pt>
                <c:pt idx="1">
                  <c:v>62.2</c:v>
                </c:pt>
                <c:pt idx="2">
                  <c:v>66.5</c:v>
                </c:pt>
                <c:pt idx="3">
                  <c:v>68.9</c:v>
                </c:pt>
                <c:pt idx="4">
                  <c:v>70.1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1226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3DEEA"/>
            </a:solidFill>
          </a:ln>
        </c:spPr>
        <c:txPr>
          <a:bodyPr/>
          <a:lstStyle/>
          <a:p>
            <a:pPr>
              <a:defRPr sz="1000" b="1">
                <a:solidFill>
                  <a:srgbClr val="1226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5.0"/>
          <c:min val="40.0"/>
        </c:scaling>
        <c:delete val="0"/>
        <c:axPos val="l"/>
        <c:majorGridlines>
          <c:spPr>
            <a:ln w="9525">
              <a:solidFill>
                <a:srgbClr val="E2ECF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B6B7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8.xml"/><Relationship Id="rId3" Type="http://schemas.openxmlformats.org/officeDocument/2006/relationships/slide" Target="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-18288"/>
            <a:ext cx="12228271" cy="6894576"/>
          </a:xfrm>
          <a:prstGeom prst="rect">
            <a:avLst/>
          </a:prstGeom>
        </p:spPr>
      </p:pic>
      <p:pic>
        <p:nvPicPr>
          <p:cNvPr id="4" name="Picture 3" descr="engine_hero.png"/>
          <p:cNvPicPr>
            <a:picLocks noChangeAspect="1"/>
          </p:cNvPicPr>
          <p:nvPr/>
        </p:nvPicPr>
        <p:blipFill>
          <a:blip r:embed="rId3"/>
          <a:srcRect t="5307" b="5307"/>
          <a:stretch>
            <a:fillRect/>
          </a:stretch>
        </p:blipFill>
        <p:spPr>
          <a:xfrm>
            <a:off x="6858000" y="1234440"/>
            <a:ext cx="5029200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0"/>
            <a:ext cx="2926080" cy="6858000"/>
          </a:xfrm>
          <a:prstGeom prst="rect">
            <a:avLst/>
          </a:prstGeom>
          <a:gradFill>
            <a:gsLst>
              <a:gs pos="0">
                <a:srgbClr val="073763">
                  <a:alpha val="100000"/>
                </a:srgbClr>
              </a:gs>
              <a:gs pos="100000">
                <a:srgbClr val="073763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417320"/>
            <a:ext cx="118872" cy="118872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344168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50" b="1" i="0" spc="160">
                <a:solidFill>
                  <a:srgbClr val="8FCBEE"/>
                </a:solidFill>
                <a:latin typeface="Arial"/>
              </a:rPr>
              <a:t>CENTER FOR INNOVATION &amp; SECURITY SOLUTIONS  ·  AI FOR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74519"/>
            <a:ext cx="6126480" cy="192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Assembly </a:t>
            </a:r>
            <a:r>
              <a:rPr sz="5400" b="1" i="0">
                <a:solidFill>
                  <a:srgbClr val="8FCBEE"/>
                </a:solidFill>
                <a:latin typeface="Arial"/>
              </a:rPr>
              <a:t>Copilot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FE0F2"/>
                </a:solidFill>
                <a:latin typeface="Arial"/>
              </a:rPr>
              <a:t>AI that watches assembly, flags mistakes,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FE0F2"/>
                </a:solidFill>
                <a:latin typeface="Arial"/>
              </a:rPr>
              <a:t>and creates auditable proof — before rework.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0" i="0" spc="60">
                <a:solidFill>
                  <a:srgbClr val="8FCBEE"/>
                </a:solidFill>
                <a:latin typeface="Arial"/>
              </a:rPr>
              <a:t>Egocentric Procedure Step Recognition  ·  Error Detection  ·  Assembly Assurance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40680"/>
            <a:ext cx="3977639" cy="566928"/>
          </a:xfrm>
          <a:prstGeom prst="roundRect">
            <a:avLst>
              <a:gd name="adj" fmla="val 50000"/>
            </a:avLst>
          </a:prstGeom>
          <a:solidFill>
            <a:srgbClr val="0B3D6B"/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40680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rial"/>
              </a:rPr>
              <a:t>Executive Progress Review   ·  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172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9FC0DC"/>
                </a:solidFill>
                <a:latin typeface="Arial"/>
              </a:rPr>
              <a:t>Lead: Sana Hafez    ·    Interns: Nahom Tesfu · Dhyey Vank · Ketan More    ·    Mentors: Jean-Pierre Njock II · Andrew T. Modjeski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220">
                <a:solidFill>
                  <a:srgbClr val="5AA9E6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12263A"/>
                </a:solidFill>
                <a:latin typeface="Arial"/>
              </a:rPr>
              <a:t>A fighter jet is thousands of </a:t>
            </a:r>
            <a:r>
              <a:rPr sz="3000" b="1" i="0">
                <a:solidFill>
                  <a:srgbClr val="5AA9E6"/>
                </a:solidFill>
                <a:latin typeface="Arial"/>
              </a:rPr>
              <a:t>go / no-go</a:t>
            </a:r>
            <a:r>
              <a:rPr sz="3000" b="1" i="0">
                <a:solidFill>
                  <a:srgbClr val="12263A"/>
                </a:solidFill>
                <a:latin typeface="Arial"/>
              </a:rPr>
              <a:t> moments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B"/>
                </a:solidFill>
                <a:latin typeface="Arial"/>
              </a:rPr>
              <a:t>The value at stake isn't only the aircraft — it's the chain of decisions that makes it trustworthy.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01568" cy="1874519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12263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800" b="1" i="0">
                <a:solidFill>
                  <a:srgbClr val="073763"/>
                </a:solidFill>
                <a:latin typeface="Arial"/>
              </a:rPr>
              <a:t>300,000+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2263A"/>
                </a:solidFill>
                <a:latin typeface="Arial"/>
              </a:rPr>
              <a:t>parts in an F-35 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64991"/>
            <a:ext cx="294436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5B6B7B"/>
                </a:solidFill>
                <a:latin typeface="Arial"/>
              </a:rPr>
              <a:t>Lockheed Martin production 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874519"/>
            <a:ext cx="3401568" cy="1874519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12263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800" b="1" i="0">
                <a:solidFill>
                  <a:srgbClr val="073763"/>
                </a:solidFill>
                <a:latin typeface="Arial"/>
              </a:rPr>
              <a:t>$82.5M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2263A"/>
                </a:solidFill>
                <a:latin typeface="Arial"/>
              </a:rPr>
              <a:t>average F-35A flyaway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64991"/>
            <a:ext cx="294436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5B6B7B"/>
                </a:solidFill>
                <a:latin typeface="Arial"/>
              </a:rPr>
              <a:t>Production Lots 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874519"/>
            <a:ext cx="3401568" cy="1874519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112263"/>
            <a:ext cx="294436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800" b="1" i="0">
                <a:solidFill>
                  <a:srgbClr val="D9534F"/>
                </a:solidFill>
                <a:latin typeface="Arial"/>
              </a:rPr>
              <a:t>20–30%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2263A"/>
                </a:solidFill>
                <a:latin typeface="Arial"/>
              </a:rPr>
              <a:t>defects missed in manual visual inspection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364991"/>
            <a:ext cx="294436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1">
                <a:solidFill>
                  <a:srgbClr val="5B6B7B"/>
                </a:solidFill>
                <a:latin typeface="Arial"/>
              </a:rPr>
              <a:t>Peer-reviewed human-factors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12263A"/>
                </a:solidFill>
                <a:latin typeface="Arial"/>
              </a:rPr>
              <a:t>The hidden cost isn't the error — </a:t>
            </a:r>
            <a:r>
              <a:rPr sz="1700" b="1" i="0">
                <a:solidFill>
                  <a:srgbClr val="D9534F"/>
                </a:solidFill>
                <a:latin typeface="Arial"/>
              </a:rPr>
              <a:t>it's discovering it 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00600"/>
            <a:ext cx="2331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" y="4983480"/>
            <a:ext cx="384048" cy="384048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946904"/>
            <a:ext cx="155447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50">
                <a:solidFill>
                  <a:srgbClr val="12263A"/>
                </a:solidFill>
                <a:latin typeface="Arial"/>
              </a:rPr>
              <a:t>STATION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5257800"/>
            <a:ext cx="155447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0E9E93"/>
                </a:solidFill>
                <a:latin typeface="Arial"/>
              </a:rPr>
              <a:t>catch here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53512" y="5020056"/>
            <a:ext cx="566928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B9C6D4"/>
                </a:solidFill>
                <a:latin typeface="Arial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38728" y="4800600"/>
            <a:ext cx="2331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21608" y="4983480"/>
            <a:ext cx="384048" cy="38404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21608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15384" y="4946904"/>
            <a:ext cx="155447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50">
                <a:solidFill>
                  <a:srgbClr val="12263A"/>
                </a:solidFill>
                <a:latin typeface="Arial"/>
              </a:rPr>
              <a:t>SUB-ASSEMBLY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5384" y="5257800"/>
            <a:ext cx="155447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rework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020056"/>
            <a:ext cx="566928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B9C6D4"/>
                </a:solidFill>
                <a:latin typeface="Arial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37376" y="4800600"/>
            <a:ext cx="2331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0256" y="4983480"/>
            <a:ext cx="384048" cy="38404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0256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4946904"/>
            <a:ext cx="155447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50">
                <a:solidFill>
                  <a:srgbClr val="12263A"/>
                </a:solidFill>
                <a:latin typeface="Arial"/>
              </a:rPr>
              <a:t>FINAL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5257800"/>
            <a:ext cx="155447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delay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0808" y="5020056"/>
            <a:ext cx="566928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B9C6D4"/>
                </a:solidFill>
                <a:latin typeface="Arial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6024" y="4800600"/>
            <a:ext cx="233172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518903" y="4983480"/>
            <a:ext cx="384048" cy="384048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18903" y="497433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946904"/>
            <a:ext cx="155447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50">
                <a:solidFill>
                  <a:srgbClr val="12263A"/>
                </a:solidFill>
                <a:latin typeface="Arial"/>
              </a:rPr>
              <a:t>DELIVERY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257800"/>
            <a:ext cx="155447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D9534F"/>
                </a:solidFill>
                <a:latin typeface="Arial"/>
              </a:rPr>
              <a:t>escape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" y="594360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5B6B7B"/>
                </a:solidFill>
                <a:latin typeface="Arial"/>
              </a:rPr>
              <a:t>Cost of a missed step grows the further downstream it travels.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400800" y="416052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0E9E93"/>
                </a:solidFill>
                <a:latin typeface="Arial"/>
              </a:rPr>
              <a:t>Assembly Copilot shifts detection left — to the station.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02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 spc="120">
                <a:solidFill>
                  <a:srgbClr val="5B6B7B"/>
                </a:solidFill>
                <a:latin typeface="Arial"/>
              </a:rPr>
              <a:t>AIOps  ·  Assembly Copilot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220">
                <a:solidFill>
                  <a:srgbClr val="5AA9E6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12263A"/>
                </a:solidFill>
                <a:latin typeface="Arial"/>
              </a:rPr>
              <a:t>Meet the </a:t>
            </a:r>
            <a:r>
              <a:rPr sz="3000" b="1" i="0">
                <a:solidFill>
                  <a:srgbClr val="5AA9E6"/>
                </a:solidFill>
                <a:latin typeface="Arial"/>
              </a:rPr>
              <a:t>AIOps Assembly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B"/>
                </a:solidFill>
                <a:latin typeface="Arial"/>
              </a:rPr>
              <a:t>One first-person camera. Five actions. One auditable record.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5681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38528"/>
            <a:ext cx="5166359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2263A"/>
                </a:solidFill>
                <a:latin typeface="Arial"/>
              </a:rPr>
              <a:t>Watch  </a:t>
            </a:r>
            <a:r>
              <a:rPr sz="1350" b="0" i="0">
                <a:solidFill>
                  <a:srgbClr val="5B6B7B"/>
                </a:solidFill>
                <a:latin typeface="Arial"/>
              </a:rPr>
              <a:t>— first-person assembly video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532888"/>
            <a:ext cx="0" cy="201168"/>
          </a:xfrm>
          <a:prstGeom prst="bentConnector3">
            <a:avLst/>
          </a:prstGeom>
          <a:ln w="1778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752344"/>
            <a:ext cx="548640" cy="5486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724912"/>
            <a:ext cx="5166359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2263A"/>
                </a:solidFill>
                <a:latin typeface="Arial"/>
              </a:rPr>
              <a:t>Recognize  </a:t>
            </a:r>
            <a:r>
              <a:rPr sz="1350" b="0" i="0">
                <a:solidFill>
                  <a:srgbClr val="5B6B7B"/>
                </a:solidFill>
                <a:latin typeface="Arial"/>
              </a:rPr>
              <a:t>— the part and procedure step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319272"/>
            <a:ext cx="0" cy="201167"/>
          </a:xfrm>
          <a:prstGeom prst="bentConnector3">
            <a:avLst/>
          </a:prstGeom>
          <a:ln w="1778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40080" y="3538728"/>
            <a:ext cx="548640" cy="548640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2958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12263A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511296"/>
            <a:ext cx="5166359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2263A"/>
                </a:solidFill>
                <a:latin typeface="Arial"/>
              </a:rPr>
              <a:t>Flag  </a:t>
            </a:r>
            <a:r>
              <a:rPr sz="1350" b="0" i="0">
                <a:solidFill>
                  <a:srgbClr val="5B6B7B"/>
                </a:solidFill>
                <a:latin typeface="Arial"/>
              </a:rPr>
              <a:t>— a missing or incorrect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4105656"/>
            <a:ext cx="0" cy="201168"/>
          </a:xfrm>
          <a:prstGeom prst="bentConnector3">
            <a:avLst/>
          </a:prstGeom>
          <a:ln w="1778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0080" y="4325112"/>
            <a:ext cx="548640" cy="5486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1596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297680"/>
            <a:ext cx="5166359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2263A"/>
                </a:solidFill>
                <a:latin typeface="Arial"/>
              </a:rPr>
              <a:t>Guide  </a:t>
            </a:r>
            <a:r>
              <a:rPr sz="1350" b="0" i="0">
                <a:solidFill>
                  <a:srgbClr val="5B6B7B"/>
                </a:solidFill>
                <a:latin typeface="Arial"/>
              </a:rPr>
              <a:t>— the operator immediately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4892040"/>
            <a:ext cx="0" cy="201168"/>
          </a:xfrm>
          <a:prstGeom prst="bentConnector3">
            <a:avLst/>
          </a:prstGeom>
          <a:ln w="17780">
            <a:solidFill>
              <a:srgbClr val="C4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40080" y="5111496"/>
            <a:ext cx="548640" cy="5486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0235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084064"/>
            <a:ext cx="5166359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800" b="1" i="0">
                <a:solidFill>
                  <a:srgbClr val="12263A"/>
                </a:solidFill>
                <a:latin typeface="Arial"/>
              </a:rPr>
              <a:t>Record  </a:t>
            </a:r>
            <a:r>
              <a:rPr sz="1350" b="0" i="0">
                <a:solidFill>
                  <a:srgbClr val="5B6B7B"/>
                </a:solidFill>
                <a:latin typeface="Arial"/>
              </a:rPr>
              <a:t>— time-stamped visual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874519"/>
            <a:ext cx="4526280" cy="2148840"/>
          </a:xfrm>
          <a:prstGeom prst="roundRect">
            <a:avLst>
              <a:gd name="adj" fmla="val 6000"/>
            </a:avLst>
          </a:prstGeom>
          <a:solidFill>
            <a:srgbClr val="12263A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hololens.jpg"/>
          <p:cNvPicPr>
            <a:picLocks noChangeAspect="1"/>
          </p:cNvPicPr>
          <p:nvPr/>
        </p:nvPicPr>
        <p:blipFill>
          <a:blip r:embed="rId2"/>
          <a:srcRect t="10179" b="10179"/>
          <a:stretch>
            <a:fillRect/>
          </a:stretch>
        </p:blipFill>
        <p:spPr>
          <a:xfrm>
            <a:off x="7150608" y="1984248"/>
            <a:ext cx="4306824" cy="19293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86600" y="4069079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0" i="1">
                <a:solidFill>
                  <a:srgbClr val="5B6B7B"/>
                </a:solidFill>
                <a:latin typeface="Arial"/>
              </a:rPr>
              <a:t>First-person capture · Microsoft HoloLens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526280"/>
            <a:ext cx="4526280" cy="1371600"/>
          </a:xfrm>
          <a:prstGeom prst="roundRect">
            <a:avLst>
              <a:gd name="adj" fmla="val 7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4672584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spc="150">
                <a:solidFill>
                  <a:srgbClr val="0E9E93"/>
                </a:solidFill>
                <a:latin typeface="Arial"/>
              </a:rPr>
              <a:t>LIVE OUTPUT</a:t>
            </a:r>
          </a:p>
        </p:txBody>
      </p:sp>
      <p:sp>
        <p:nvSpPr>
          <p:cNvPr id="31" name="Oval 30"/>
          <p:cNvSpPr/>
          <p:nvPr/>
        </p:nvSpPr>
        <p:spPr>
          <a:xfrm>
            <a:off x="7269480" y="5084064"/>
            <a:ext cx="91440" cy="914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0" y="5001768"/>
            <a:ext cx="39776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2263A"/>
                </a:solidFill>
                <a:latin typeface="Arial"/>
              </a:rPr>
              <a:t>Step timeline  </a:t>
            </a:r>
            <a:r>
              <a:rPr sz="1100" b="0" i="0">
                <a:solidFill>
                  <a:srgbClr val="5B6B7B"/>
                </a:solidFill>
                <a:latin typeface="Arial"/>
              </a:rPr>
              <a:t>t0 → t1 per action</a:t>
            </a:r>
          </a:p>
        </p:txBody>
      </p:sp>
      <p:sp>
        <p:nvSpPr>
          <p:cNvPr id="33" name="Oval 32"/>
          <p:cNvSpPr/>
          <p:nvPr/>
        </p:nvSpPr>
        <p:spPr>
          <a:xfrm>
            <a:off x="7269480" y="5358383"/>
            <a:ext cx="91440" cy="914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5276088"/>
            <a:ext cx="39776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2263A"/>
                </a:solidFill>
                <a:latin typeface="Arial"/>
              </a:rPr>
              <a:t>Part inventory  </a:t>
            </a:r>
            <a:r>
              <a:rPr sz="1100" b="0" i="0">
                <a:solidFill>
                  <a:srgbClr val="5B6B7B"/>
                </a:solidFill>
                <a:latin typeface="Arial"/>
              </a:rPr>
              <a:t>bracket ×1 · fastener ×4</a:t>
            </a:r>
          </a:p>
        </p:txBody>
      </p:sp>
      <p:sp>
        <p:nvSpPr>
          <p:cNvPr id="35" name="Oval 34"/>
          <p:cNvSpPr/>
          <p:nvPr/>
        </p:nvSpPr>
        <p:spPr>
          <a:xfrm>
            <a:off x="7269480" y="5632703"/>
            <a:ext cx="91440" cy="91440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5550407"/>
            <a:ext cx="39776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12263A"/>
                </a:solidFill>
                <a:latin typeface="Arial"/>
              </a:rPr>
              <a:t>Evidence  </a:t>
            </a:r>
            <a:r>
              <a:rPr sz="1100" b="0" i="0">
                <a:solidFill>
                  <a:srgbClr val="5B6B7B"/>
                </a:solidFill>
                <a:latin typeface="Arial"/>
              </a:rPr>
              <a:t>time · frame · verdict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943600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943600"/>
            <a:ext cx="112014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spc="100">
                <a:solidFill>
                  <a:srgbClr val="073763"/>
                </a:solidFill>
                <a:latin typeface="Arial"/>
              </a:rPr>
              <a:t>ON-SITE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88819" y="5943600"/>
            <a:ext cx="2171700" cy="384048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88819" y="5943600"/>
            <a:ext cx="21717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spc="100">
                <a:solidFill>
                  <a:srgbClr val="073763"/>
                </a:solidFill>
                <a:latin typeface="Arial"/>
              </a:rPr>
              <a:t>WORKER IN CONTROL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5943600"/>
            <a:ext cx="1330452" cy="384048"/>
          </a:xfrm>
          <a:prstGeom prst="roundRect">
            <a:avLst>
              <a:gd name="adj" fmla="val 50000"/>
            </a:avLst>
          </a:prstGeom>
          <a:solidFill>
            <a:srgbClr val="E8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0" y="5943600"/>
            <a:ext cx="1330452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50" b="1" i="0" spc="100">
                <a:solidFill>
                  <a:srgbClr val="073763"/>
                </a:solidFill>
                <a:latin typeface="Arial"/>
              </a:rPr>
              <a:t>AUDITABLE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 spc="120">
                <a:solidFill>
                  <a:srgbClr val="5B6B7B"/>
                </a:solidFill>
                <a:latin typeface="Arial"/>
              </a:rPr>
              <a:t>AIOps  ·  Assembly Copilot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220">
                <a:solidFill>
                  <a:srgbClr val="5AA9E6"/>
                </a:solidFill>
                <a:latin typeface="Arial"/>
              </a:rPr>
              <a:t>TEAM &amp;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12263A"/>
                </a:solidFill>
                <a:latin typeface="Arial"/>
              </a:rPr>
              <a:t>The people building </a:t>
            </a:r>
            <a:r>
              <a:rPr sz="3000" b="1" i="0">
                <a:solidFill>
                  <a:srgbClr val="5AA9E6"/>
                </a:solidFill>
                <a:latin typeface="Arial"/>
              </a:rPr>
              <a:t>AIOps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B"/>
                </a:solidFill>
                <a:latin typeface="Arial"/>
              </a:rPr>
              <a:t>A focused build-and-assembly team inside CISS — mission: AI for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379476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167127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spc="160">
                <a:solidFill>
                  <a:srgbClr val="0E9E93"/>
                </a:solidFill>
                <a:latin typeface="Arial"/>
              </a:rPr>
              <a:t>LEAD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560319"/>
            <a:ext cx="109728" cy="10972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3584" y="2459735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2263A"/>
                </a:solidFill>
                <a:latin typeface="Arial"/>
              </a:rPr>
              <a:t>Sana Hafez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2953511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spc="160">
                <a:solidFill>
                  <a:srgbClr val="0E9E93"/>
                </a:solidFill>
                <a:latin typeface="Arial"/>
              </a:rPr>
              <a:t>INTERNS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346703"/>
            <a:ext cx="109728" cy="10972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3246119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2263A"/>
                </a:solidFill>
                <a:latin typeface="Arial"/>
              </a:rPr>
              <a:t>Nahom Tesfu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712463"/>
            <a:ext cx="109728" cy="10972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43584" y="3611879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2263A"/>
                </a:solidFill>
                <a:latin typeface="Arial"/>
              </a:rPr>
              <a:t>Dhyey Vank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4078223"/>
            <a:ext cx="109728" cy="10972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3584" y="3977639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2263A"/>
                </a:solidFill>
                <a:latin typeface="Arial"/>
              </a:rPr>
              <a:t>Ketan More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447141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spc="160">
                <a:solidFill>
                  <a:srgbClr val="0E9E93"/>
                </a:solidFill>
                <a:latin typeface="Arial"/>
              </a:rPr>
              <a:t>MENTORS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4864607"/>
            <a:ext cx="109728" cy="10972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3584" y="4764024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2263A"/>
                </a:solidFill>
                <a:latin typeface="Arial"/>
              </a:rPr>
              <a:t>Jean-Pierre Njock II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5230368"/>
            <a:ext cx="109728" cy="109728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3584" y="5129784"/>
            <a:ext cx="443484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2263A"/>
                </a:solidFill>
                <a:latin typeface="Arial"/>
              </a:rPr>
              <a:t>Andrew T. Modjeski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874519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 spc="120">
                <a:solidFill>
                  <a:srgbClr val="073763"/>
                </a:solidFill>
                <a:latin typeface="Arial"/>
              </a:rPr>
              <a:t>WHERE AIOps SITS IN CISS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28600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28600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2263A"/>
                </a:solidFill>
                <a:latin typeface="Arial"/>
              </a:rPr>
              <a:t>GAIT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83464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83464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2263A"/>
                </a:solidFill>
                <a:latin typeface="Arial"/>
              </a:rPr>
              <a:t>ModSim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38328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3832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AI for Operations</a:t>
            </a:r>
            <a:r>
              <a:rPr sz="1100" b="1" i="0">
                <a:solidFill>
                  <a:srgbClr val="8FCBEE"/>
                </a:solidFill>
                <a:latin typeface="Arial"/>
              </a:rPr>
              <a:t>   ◂ our team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393192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2263A"/>
                </a:solidFill>
                <a:latin typeface="Arial"/>
              </a:rPr>
              <a:t>RSA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480559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4480559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12263A"/>
                </a:solidFill>
                <a:latin typeface="Arial"/>
              </a:rPr>
              <a:t>Systems Engineering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16636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285232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073763"/>
                </a:solidFill>
                <a:latin typeface="Arial"/>
              </a:rPr>
              <a:t>Aero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6928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business area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9580" y="516636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2460" y="5285232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073763"/>
                </a:solidFill>
                <a:latin typeface="Arial"/>
              </a:rPr>
              <a:t>Egocentric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2460" y="566928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viewpoint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29800" y="516636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5285232"/>
            <a:ext cx="1417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073763"/>
                </a:solidFill>
                <a:latin typeface="Arial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566928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nationalities on the cohort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 spc="120">
                <a:solidFill>
                  <a:srgbClr val="5B6B7B"/>
                </a:solidFill>
                <a:latin typeface="Arial"/>
              </a:rPr>
              <a:t>AIOps  ·  Assembly Copilot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220">
                <a:solidFill>
                  <a:srgbClr val="5AA9E6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900" b="1" i="0">
                <a:solidFill>
                  <a:srgbClr val="12263A"/>
                </a:solidFill>
                <a:latin typeface="Arial"/>
              </a:rPr>
              <a:t>From egocentric video to a </a:t>
            </a:r>
            <a:r>
              <a:rPr sz="2900" b="1" i="0">
                <a:solidFill>
                  <a:srgbClr val="5AA9E6"/>
                </a:solidFill>
                <a:latin typeface="Arial"/>
              </a:rPr>
              <a:t>verified step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B"/>
                </a:solidFill>
                <a:latin typeface="Arial"/>
              </a:rPr>
              <a:t>Video → Segment → Verify.  Frozen backbones, trained heads, procedure-aware decode.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938528" cy="1600200"/>
          </a:xfrm>
          <a:prstGeom prst="roundRect">
            <a:avLst>
              <a:gd name="adj" fmla="val 8000"/>
            </a:avLst>
          </a:prstGeom>
          <a:solidFill>
            <a:srgbClr val="0E9E93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651760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Arial"/>
              </a:rPr>
              <a:t>Egocentric</a:t>
            </a:r>
          </a:p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4655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CFE0F2"/>
                </a:solidFill>
                <a:latin typeface="Arial"/>
              </a:rPr>
              <a:t>mp4 · 30 fps · 1280×720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96896" y="3168396"/>
            <a:ext cx="256032" cy="201168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F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2862072" y="2468880"/>
            <a:ext cx="1938528" cy="1600200"/>
          </a:xfrm>
          <a:prstGeom prst="roundRect">
            <a:avLst>
              <a:gd name="adj" fmla="val 8000"/>
            </a:avLst>
          </a:prstGeom>
          <a:solidFill>
            <a:srgbClr val="073763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2651760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Arial"/>
              </a:rPr>
              <a:t>Frozen</a:t>
            </a:r>
          </a:p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Arial"/>
              </a:rPr>
              <a:t>backbones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4655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CFE0F2"/>
                </a:solidFill>
                <a:latin typeface="Arial"/>
              </a:rPr>
              <a:t>VideoMAEv2-giant + InternVideo2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8888" y="3168396"/>
            <a:ext cx="256032" cy="201168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F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>
            <a:hlinkClick action="ppaction://hlinksldjump" r:id="rId2"/>
          </p:cNvPr>
          <p:cNvSpPr/>
          <p:nvPr/>
        </p:nvSpPr>
        <p:spPr>
          <a:xfrm>
            <a:off x="5084064" y="2468880"/>
            <a:ext cx="1938528" cy="1600200"/>
          </a:xfrm>
          <a:prstGeom prst="roundRect">
            <a:avLst>
              <a:gd name="adj" fmla="val 8000"/>
            </a:avLst>
          </a:prstGeom>
          <a:solidFill>
            <a:srgbClr val="073763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2651760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Arial"/>
              </a:rPr>
              <a:t>Trained</a:t>
            </a:r>
          </a:p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Arial"/>
              </a:rPr>
              <a:t>heads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34655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CFE0F2"/>
                </a:solidFill>
                <a:latin typeface="Arial"/>
              </a:rPr>
              <a:t>Step (which part) + Type (outcome)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40880" y="3168396"/>
            <a:ext cx="256032" cy="201168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F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>
            <a:hlinkClick action="ppaction://hlinksldjump" r:id="rId2"/>
          </p:cNvPr>
          <p:cNvSpPr/>
          <p:nvPr/>
        </p:nvSpPr>
        <p:spPr>
          <a:xfrm>
            <a:off x="7306056" y="2468880"/>
            <a:ext cx="1938528" cy="1600200"/>
          </a:xfrm>
          <a:prstGeom prst="roundRect">
            <a:avLst>
              <a:gd name="adj" fmla="val 8000"/>
            </a:avLst>
          </a:prstGeom>
          <a:solidFill>
            <a:srgbClr val="073763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651760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Arial"/>
              </a:rPr>
              <a:t>Viterbi</a:t>
            </a:r>
          </a:p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Arial"/>
              </a:rPr>
              <a:t>decode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4655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CFE0F2"/>
                </a:solidFill>
                <a:latin typeface="Arial"/>
              </a:rPr>
              <a:t>procedure-aware smoothing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62872" y="3168396"/>
            <a:ext cx="256032" cy="201168"/>
          </a:xfrm>
          <a:prstGeom prst="rightArrow">
            <a:avLst>
              <a:gd name="adj1" fmla="val 50000"/>
              <a:gd name="adj2" fmla="val 60000"/>
            </a:avLst>
          </a:prstGeom>
          <a:solidFill>
            <a:srgbClr val="9FB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>
            <a:hlinkClick action="ppaction://hlinksldjump" r:id="rId3"/>
          </p:cNvPr>
          <p:cNvSpPr/>
          <p:nvPr/>
        </p:nvSpPr>
        <p:spPr>
          <a:xfrm>
            <a:off x="9528048" y="2468880"/>
            <a:ext cx="1938528" cy="160020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2651760"/>
            <a:ext cx="166420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00" b="1" i="0">
                <a:solidFill>
                  <a:srgbClr val="12263A"/>
                </a:solidFill>
                <a:latin typeface="Arial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3465576"/>
            <a:ext cx="16642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2B3A48"/>
                </a:solidFill>
                <a:latin typeface="Arial"/>
              </a:rPr>
              <a:t>timeline + per-step verdict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spc="160">
                <a:solidFill>
                  <a:srgbClr val="0E9E93"/>
                </a:solidFill>
                <a:latin typeface="Arial"/>
              </a:rPr>
              <a:t>OUTPUTS</a:t>
            </a:r>
          </a:p>
        </p:txBody>
      </p:sp>
      <p:sp>
        <p:nvSpPr>
          <p:cNvPr id="27" name="Rounded Rectangle 26">
            <a:hlinkClick action="ppaction://hlinksldjump" r:id="rId3"/>
          </p:cNvPr>
          <p:cNvSpPr/>
          <p:nvPr/>
        </p:nvSpPr>
        <p:spPr>
          <a:xfrm>
            <a:off x="640080" y="498348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7" y="5276088"/>
            <a:ext cx="256032" cy="256032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111496"/>
            <a:ext cx="283463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2263A"/>
                </a:solidFill>
                <a:latin typeface="Arial"/>
              </a:rPr>
              <a:t>Step timeline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440680"/>
            <a:ext cx="283463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B"/>
                </a:solidFill>
                <a:latin typeface="Arial"/>
              </a:rPr>
              <a:t>which part, when</a:t>
            </a:r>
          </a:p>
        </p:txBody>
      </p:sp>
      <p:sp>
        <p:nvSpPr>
          <p:cNvPr id="31" name="Rounded Rectangle 30">
            <a:hlinkClick action="ppaction://hlinksldjump" r:id="rId3"/>
          </p:cNvPr>
          <p:cNvSpPr/>
          <p:nvPr/>
        </p:nvSpPr>
        <p:spPr>
          <a:xfrm>
            <a:off x="4462272" y="498348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40" y="5276088"/>
            <a:ext cx="256032" cy="256032"/>
          </a:xfrm>
          <a:prstGeom prst="ellipse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56632" y="5111496"/>
            <a:ext cx="283463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2263A"/>
                </a:solidFill>
                <a:latin typeface="Arial"/>
              </a:rPr>
              <a:t>Per-step outcome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5440680"/>
            <a:ext cx="283463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B"/>
                </a:solidFill>
                <a:latin typeface="Arial"/>
              </a:rPr>
              <a:t>correct / incorrect / removed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8284463" y="498348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85632" y="5276088"/>
            <a:ext cx="256032" cy="256032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78824" y="5111496"/>
            <a:ext cx="2834639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12263A"/>
                </a:solidFill>
                <a:latin typeface="Arial"/>
              </a:rPr>
              <a:t>Procedure verdict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5440680"/>
            <a:ext cx="2834639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B"/>
                </a:solidFill>
                <a:latin typeface="Arial"/>
              </a:rPr>
              <a:t>pass or deviation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5B6B7B"/>
                </a:solidFill>
                <a:latin typeface="Arial"/>
              </a:rPr>
              <a:t>The only trained component is the head — the frozen backbones and Viterbi decode need no fine-tuning.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05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 spc="120">
                <a:solidFill>
                  <a:srgbClr val="5B6B7B"/>
                </a:solidFill>
                <a:latin typeface="Arial"/>
              </a:rPr>
              <a:t>AIOps  ·  Assembly Copilot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ngine_hero.png"/>
          <p:cNvPicPr>
            <a:picLocks noChangeAspect="1"/>
          </p:cNvPicPr>
          <p:nvPr/>
        </p:nvPicPr>
        <p:blipFill>
          <a:blip r:embed="rId2"/>
          <a:srcRect t="6549" b="6549"/>
          <a:stretch>
            <a:fillRect/>
          </a:stretch>
        </p:blipFill>
        <p:spPr>
          <a:xfrm>
            <a:off x="-274320" y="1234440"/>
            <a:ext cx="6035040" cy="512064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220">
                <a:solidFill>
                  <a:srgbClr val="8FCBEE"/>
                </a:solidFill>
                <a:latin typeface="Arial"/>
              </a:rPr>
              <a:t>THE ASSEMBLY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Arial"/>
              </a:rPr>
              <a:t>A turbine engine, </a:t>
            </a:r>
            <a:r>
              <a:rPr sz="3000" b="1" i="0">
                <a:solidFill>
                  <a:srgbClr val="8FCBEE"/>
                </a:solidFill>
                <a:latin typeface="Arial"/>
              </a:rPr>
              <a:t>engineered to be watched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450" b="0" i="0">
                <a:solidFill>
                  <a:srgbClr val="AEC8DF"/>
                </a:solidFill>
                <a:latin typeface="Arial"/>
              </a:rPr>
              <a:t>Chosen to generate strong, stageable visual evidence for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96596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 spc="150">
                <a:solidFill>
                  <a:srgbClr val="8FCBEE"/>
                </a:solidFill>
                <a:latin typeface="Arial"/>
              </a:rPr>
              <a:t>WHY THIS PLATFORM</a:t>
            </a:r>
          </a:p>
        </p:txBody>
      </p:sp>
      <p:sp>
        <p:nvSpPr>
          <p:cNvPr id="9" name="Oval 8"/>
          <p:cNvSpPr/>
          <p:nvPr/>
        </p:nvSpPr>
        <p:spPr>
          <a:xfrm>
            <a:off x="5806440" y="2377439"/>
            <a:ext cx="146304" cy="146304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2286000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Recognizable aerospace form  </a:t>
            </a:r>
            <a:r>
              <a:rPr sz="1150" b="0" i="0">
                <a:solidFill>
                  <a:srgbClr val="A9C4DB"/>
                </a:solidFill>
                <a:latin typeface="Arial"/>
              </a:rPr>
              <a:t>— a propeller-turbine the whole floor knows</a:t>
            </a:r>
          </a:p>
        </p:txBody>
      </p:sp>
      <p:sp>
        <p:nvSpPr>
          <p:cNvPr id="11" name="Oval 10"/>
          <p:cNvSpPr/>
          <p:nvPr/>
        </p:nvSpPr>
        <p:spPr>
          <a:xfrm>
            <a:off x="5806440" y="2944368"/>
            <a:ext cx="146304" cy="146304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9048" y="2852928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Visible internal mechanics  </a:t>
            </a:r>
            <a:r>
              <a:rPr sz="1150" b="0" i="0">
                <a:solidFill>
                  <a:srgbClr val="A9C4DB"/>
                </a:solidFill>
                <a:latin typeface="Arial"/>
              </a:rPr>
              <a:t>— gears, compressor, turbine, casing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3511296"/>
            <a:ext cx="146304" cy="146304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3419856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Powered motion &amp; modular interfaces  </a:t>
            </a:r>
            <a:r>
              <a:rPr sz="1150" b="0" i="0">
                <a:solidFill>
                  <a:srgbClr val="A9C4DB"/>
                </a:solidFill>
                <a:latin typeface="Arial"/>
              </a:rPr>
              <a:t>— large, distinct visual state changes</a:t>
            </a:r>
          </a:p>
        </p:txBody>
      </p:sp>
      <p:sp>
        <p:nvSpPr>
          <p:cNvPr id="15" name="Oval 14"/>
          <p:cNvSpPr/>
          <p:nvPr/>
        </p:nvSpPr>
        <p:spPr>
          <a:xfrm>
            <a:off x="5806440" y="4078224"/>
            <a:ext cx="146304" cy="146304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9048" y="3986784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Arial"/>
              </a:rPr>
              <a:t>Repeatable, stageable errors  </a:t>
            </a:r>
            <a:r>
              <a:rPr sz="1150" b="0" i="0">
                <a:solidFill>
                  <a:srgbClr val="A9C4DB"/>
                </a:solidFill>
                <a:latin typeface="Arial"/>
              </a:rPr>
              <a:t>— wrong orientation, partial seating, missed fasteners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892040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spc="100">
                <a:solidFill>
                  <a:srgbClr val="8FCBEE"/>
                </a:solidFill>
                <a:latin typeface="Arial"/>
              </a:rPr>
              <a:t>20 OBSERVABLE ACTIONS  ·  4 PHASES  ·  ~4–5 MIN RUN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5230368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0C3D69"/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34455" y="5340096"/>
            <a:ext cx="113385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Propulsion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5" y="585215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2B138"/>
                </a:solidFill>
                <a:latin typeface="Arial"/>
              </a:rPr>
              <a:t>steps 1–5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8623" y="5230368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0C3D69"/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5340096"/>
            <a:ext cx="113385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Drive +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85215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2B138"/>
                </a:solidFill>
                <a:latin typeface="Arial"/>
              </a:rPr>
              <a:t>steps 6–10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0808" y="5230368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0C3D69"/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78824" y="5340096"/>
            <a:ext cx="113385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Engine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78824" y="585215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2B138"/>
                </a:solidFill>
                <a:latin typeface="Arial"/>
              </a:rPr>
              <a:t>steps 11–15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22992" y="5230368"/>
            <a:ext cx="1353312" cy="914400"/>
          </a:xfrm>
          <a:prstGeom prst="roundRect">
            <a:avLst>
              <a:gd name="adj" fmla="val 10000"/>
            </a:avLst>
          </a:prstGeom>
          <a:solidFill>
            <a:srgbClr val="0C3D69"/>
          </a:solidFill>
          <a:ln w="9525">
            <a:solidFill>
              <a:srgbClr val="5AA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51008" y="5340096"/>
            <a:ext cx="113385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Integration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+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51008" y="5852159"/>
            <a:ext cx="113385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1" i="0">
                <a:solidFill>
                  <a:srgbClr val="F2B138"/>
                </a:solidFill>
                <a:latin typeface="Arial"/>
              </a:rPr>
              <a:t>steps 16–20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8FCBEE"/>
                </a:solidFill>
                <a:latin typeface="Arial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 spc="120">
                <a:solidFill>
                  <a:srgbClr val="6E90B0"/>
                </a:solidFill>
                <a:latin typeface="Arial"/>
              </a:rPr>
              <a:t>AIOps  ·  Assembly Copilot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220">
                <a:solidFill>
                  <a:srgbClr val="5AA9E6"/>
                </a:solidFill>
                <a:latin typeface="Arial"/>
              </a:rPr>
              <a:t>DATASET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900" b="1" i="0">
                <a:solidFill>
                  <a:srgbClr val="12263A"/>
                </a:solidFill>
                <a:latin typeface="Arial"/>
              </a:rPr>
              <a:t>Building our own </a:t>
            </a:r>
            <a:r>
              <a:rPr sz="2900" b="1" i="0">
                <a:solidFill>
                  <a:srgbClr val="5AA9E6"/>
                </a:solidFill>
                <a:latin typeface="Arial"/>
              </a:rPr>
              <a:t>egocentric assembly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B"/>
                </a:solidFill>
                <a:latin typeface="Arial"/>
              </a:rPr>
              <a:t>HoloLens-captured first-person runs — correct, error, and recovery — labeled with model assistance.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3401568" cy="2441448"/>
          </a:xfrm>
          <a:prstGeom prst="roundRect">
            <a:avLst>
              <a:gd name="adj" fmla="val 5000"/>
            </a:avLst>
          </a:prstGeom>
          <a:solidFill>
            <a:srgbClr val="12263A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d_frame_1.jpg"/>
          <p:cNvPicPr>
            <a:picLocks noChangeAspect="1"/>
          </p:cNvPicPr>
          <p:nvPr/>
        </p:nvPicPr>
        <p:blipFill>
          <a:blip r:embed="rId2"/>
          <a:srcRect l="3953" r="3953"/>
          <a:stretch>
            <a:fillRect/>
          </a:stretch>
        </p:blipFill>
        <p:spPr>
          <a:xfrm>
            <a:off x="731519" y="2057400"/>
            <a:ext cx="3218688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069080"/>
            <a:ext cx="312724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Arial"/>
              </a:rPr>
              <a:t>Correct run · gearbox assembly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965960"/>
            <a:ext cx="3401568" cy="2441448"/>
          </a:xfrm>
          <a:prstGeom prst="roundRect">
            <a:avLst>
              <a:gd name="adj" fmla="val 5000"/>
            </a:avLst>
          </a:prstGeom>
          <a:solidFill>
            <a:srgbClr val="12263A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id_frame_3.jpg"/>
          <p:cNvPicPr>
            <a:picLocks noChangeAspect="1"/>
          </p:cNvPicPr>
          <p:nvPr/>
        </p:nvPicPr>
        <p:blipFill>
          <a:blip r:embed="rId3"/>
          <a:srcRect l="3953" r="3953"/>
          <a:stretch>
            <a:fillRect/>
          </a:stretch>
        </p:blipFill>
        <p:spPr>
          <a:xfrm>
            <a:off x="4407408" y="2057400"/>
            <a:ext cx="3218688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3128" y="4069080"/>
            <a:ext cx="312724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Arial"/>
              </a:rPr>
              <a:t>Powered fastening · compressor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965960"/>
            <a:ext cx="3401568" cy="2441448"/>
          </a:xfrm>
          <a:prstGeom prst="roundRect">
            <a:avLst>
              <a:gd name="adj" fmla="val 5000"/>
            </a:avLst>
          </a:prstGeom>
          <a:solidFill>
            <a:srgbClr val="12263A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go_gears.jpg"/>
          <p:cNvPicPr>
            <a:picLocks noChangeAspect="1"/>
          </p:cNvPicPr>
          <p:nvPr/>
        </p:nvPicPr>
        <p:blipFill>
          <a:blip r:embed="rId4"/>
          <a:srcRect l="3953" r="3953"/>
          <a:stretch>
            <a:fillRect/>
          </a:stretch>
        </p:blipFill>
        <p:spPr>
          <a:xfrm>
            <a:off x="8083296" y="2057400"/>
            <a:ext cx="3218688" cy="1965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9016" y="4069080"/>
            <a:ext cx="312724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Arial"/>
              </a:rPr>
              <a:t>Planetary gears · sub-assembly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 spc="120">
                <a:solidFill>
                  <a:srgbClr val="0E9E93"/>
                </a:solidFill>
                <a:latin typeface="Arial"/>
              </a:rPr>
              <a:t>MODEL-ASSISTED LABELING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038344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651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Hand joints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96519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B"/>
                </a:solidFill>
                <a:latin typeface="Arial"/>
              </a:rPr>
              <a:t>MediaPipe Hand Landmarker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5367528"/>
            <a:ext cx="128016" cy="128016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94376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Step /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5294376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B"/>
                </a:solidFill>
                <a:latin typeface="Arial"/>
              </a:rPr>
              <a:t>MS-TCN++ baseline + Viterbi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696712"/>
            <a:ext cx="128016" cy="128016"/>
          </a:xfrm>
          <a:prstGeom prst="ellipse">
            <a:avLst/>
          </a:prstGeom>
          <a:solidFill>
            <a:srgbClr val="B9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Tool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6235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B"/>
                </a:solidFill>
                <a:latin typeface="Arial"/>
              </a:rPr>
              <a:t>detector / segmenter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" y="6025896"/>
            <a:ext cx="128016" cy="128016"/>
          </a:xfrm>
          <a:prstGeom prst="ellipse">
            <a:avLst/>
          </a:prstGeom>
          <a:solidFill>
            <a:srgbClr val="B9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952744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Orientation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952744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5B6B7B"/>
                </a:solidFill>
                <a:latin typeface="Arial"/>
              </a:rPr>
              <a:t>FoundationPose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645152"/>
            <a:ext cx="5193792" cy="1737360"/>
          </a:xfrm>
          <a:prstGeom prst="roundRect">
            <a:avLst>
              <a:gd name="adj" fmla="val 5000"/>
            </a:avLst>
          </a:prstGeom>
          <a:solidFill>
            <a:srgbClr val="12263A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hand_tracking.png"/>
          <p:cNvPicPr>
            <a:picLocks noChangeAspect="1"/>
          </p:cNvPicPr>
          <p:nvPr/>
        </p:nvPicPr>
        <p:blipFill>
          <a:blip r:embed="rId5"/>
          <a:srcRect t="8385" b="8385"/>
          <a:stretch>
            <a:fillRect/>
          </a:stretch>
        </p:blipFill>
        <p:spPr>
          <a:xfrm>
            <a:off x="6446520" y="4736592"/>
            <a:ext cx="5010912" cy="15544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355080" y="6419088"/>
            <a:ext cx="51937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000" b="0" i="1">
                <a:solidFill>
                  <a:srgbClr val="5B6B7B"/>
                </a:solidFill>
                <a:latin typeface="Arial"/>
              </a:rPr>
              <a:t>MediaPipe hand-landmark labeling · 21 joints × 2 hands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 spc="120">
                <a:solidFill>
                  <a:srgbClr val="5B6B7B"/>
                </a:solidFill>
                <a:latin typeface="Arial"/>
              </a:rPr>
              <a:t>AIOps  ·  Assembly Copilot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220">
                <a:solidFill>
                  <a:srgbClr val="5AA9E6"/>
                </a:solidFill>
                <a:latin typeface="Arial"/>
              </a:rPr>
              <a:t>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12263A"/>
                </a:solidFill>
                <a:latin typeface="Arial"/>
              </a:rPr>
              <a:t>Two architectures, </a:t>
            </a:r>
            <a:r>
              <a:rPr sz="3000" b="1" i="0">
                <a:solidFill>
                  <a:srgbClr val="5AA9E6"/>
                </a:solidFill>
                <a:latin typeface="Arial"/>
              </a:rPr>
              <a:t>one recipe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B"/>
                </a:solidFill>
                <a:latin typeface="Arial"/>
              </a:rPr>
              <a:t>Same frozen-backbone → trained-head design. A second appearance encoder unlocks fault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3401568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49240" cy="676656"/>
          </a:xfrm>
          <a:prstGeom prst="roundRect">
            <a:avLst>
              <a:gd name="adj" fmla="val 5000"/>
            </a:avLst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48920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rial"/>
              </a:rPr>
              <a:t>A  ·  Segmentation champion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76856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 i="0" spc="50">
                <a:solidFill>
                  <a:srgbClr val="EAF2FB"/>
                </a:solidFill>
                <a:latin typeface="Arial"/>
              </a:rPr>
              <a:t>SSv2-giant + DiffAct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2679191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06623"/>
            <a:ext cx="4526279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Frozen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44368"/>
            <a:ext cx="4526279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VideoMAEv2-giant (SSv2) · 1408-d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154679"/>
            <a:ext cx="483717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9FB4C6"/>
                </a:solidFill>
                <a:latin typeface="Arial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3337559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364991"/>
            <a:ext cx="4526279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DiffAct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02735"/>
            <a:ext cx="4526279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diffusion action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813047"/>
            <a:ext cx="483717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9FB4C6"/>
                </a:solidFill>
                <a:latin typeface="Arial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3995927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023359"/>
            <a:ext cx="4526279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Viterbi decode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261103"/>
            <a:ext cx="4526279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procedure-aware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636008"/>
            <a:ext cx="4837175" cy="45720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636008"/>
            <a:ext cx="483717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Sharpest boundaries — best Edit &amp; F1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874519"/>
            <a:ext cx="5349240" cy="3401568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1874519"/>
            <a:ext cx="5349240" cy="676656"/>
          </a:xfrm>
          <a:prstGeom prst="roundRect">
            <a:avLst>
              <a:gd name="adj" fmla="val 5000"/>
            </a:avLst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965960"/>
            <a:ext cx="48920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550" b="1" i="0">
                <a:solidFill>
                  <a:srgbClr val="FFFFFF"/>
                </a:solidFill>
                <a:latin typeface="Arial"/>
              </a:rPr>
              <a:t>B  ·  Fault 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2276856"/>
            <a:ext cx="4892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050" b="1" i="0" spc="50">
                <a:solidFill>
                  <a:srgbClr val="EAF2FB"/>
                </a:solidFill>
                <a:latin typeface="Arial"/>
              </a:rPr>
              <a:t>Fusion + ASFormer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2679191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706623"/>
            <a:ext cx="4526279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Fusion backbone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2944368"/>
            <a:ext cx="4526279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giant SSv2 + InternVideo2-B14 · 2176-d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3154679"/>
            <a:ext cx="483717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9FB4C6"/>
                </a:solidFill>
                <a:latin typeface="Arial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3337559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3364991"/>
            <a:ext cx="4526279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ASFormer head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602735"/>
            <a:ext cx="4526279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Step head + Type head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813047"/>
            <a:ext cx="4837175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9FB4C6"/>
                </a:solidFill>
                <a:latin typeface="Arial"/>
              </a:rP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55664" y="3995927"/>
            <a:ext cx="4837175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2" y="4023359"/>
            <a:ext cx="4526279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2263A"/>
                </a:solidFill>
                <a:latin typeface="Arial"/>
              </a:rPr>
              <a:t>Viterbi decode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4261103"/>
            <a:ext cx="4526279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>
                <a:solidFill>
                  <a:srgbClr val="5B6B7B"/>
                </a:solidFill>
                <a:latin typeface="Arial"/>
              </a:rPr>
              <a:t>procedure-aware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55664" y="4636008"/>
            <a:ext cx="4837175" cy="457200"/>
          </a:xfrm>
          <a:prstGeom prst="roundRect">
            <a:avLst>
              <a:gd name="adj" fmla="val 12000"/>
            </a:avLst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55664" y="4636008"/>
            <a:ext cx="4837175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Arial"/>
              </a:rPr>
              <a:t>Only architecture that catches faults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413248"/>
            <a:ext cx="10908792" cy="749808"/>
          </a:xfrm>
          <a:prstGeom prst="roundRect">
            <a:avLst>
              <a:gd name="adj" fmla="val 8000"/>
            </a:avLst>
          </a:prstGeom>
          <a:solidFill>
            <a:srgbClr val="073763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413248"/>
            <a:ext cx="31089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F2B138"/>
                </a:solidFill>
                <a:latin typeface="Arial"/>
              </a:rPr>
              <a:t>+ SAM3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8FCBEE"/>
                </a:solidFill>
                <a:latin typeface="Arial"/>
              </a:rPr>
              <a:t>enrichment lane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0" y="5413248"/>
            <a:ext cx="740664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Arial"/>
              </a:rPr>
              <a:t>Runs on top at inference — no retraining, same accuracy. Adds per-step part masks (where) + a component inventory (what is present).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 spc="120">
                <a:solidFill>
                  <a:srgbClr val="5B6B7B"/>
                </a:solidFill>
                <a:latin typeface="Arial"/>
              </a:rPr>
              <a:t>AIOps  ·  Assembly Copilot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7492"/>
            <a:ext cx="118872" cy="118872"/>
          </a:xfrm>
          <a:prstGeom prst="ellipse">
            <a:avLst/>
          </a:prstGeom>
          <a:solidFill>
            <a:srgbClr val="0E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420624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220">
                <a:solidFill>
                  <a:srgbClr val="5AA9E6"/>
                </a:solidFill>
                <a:latin typeface="Arial"/>
              </a:rPr>
              <a:t>RESULTS · INDUSTREAL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12263A"/>
                </a:solidFill>
                <a:latin typeface="Arial"/>
              </a:rPr>
              <a:t>State-of-the-art step recognition — </a:t>
            </a:r>
            <a:r>
              <a:rPr sz="2700" b="1" i="0">
                <a:solidFill>
                  <a:srgbClr val="5AA9E6"/>
                </a:solidFill>
                <a:latin typeface="Arial"/>
              </a:rPr>
              <a:t>first result above 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B"/>
                </a:solidFill>
                <a:latin typeface="Arial"/>
              </a:rPr>
              <a:t>Segmentation quality (F1@50) climbing across five architecture generations.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965960"/>
          <a:ext cx="59436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03720" y="2011680"/>
            <a:ext cx="4663440" cy="1783080"/>
          </a:xfrm>
          <a:prstGeom prst="roundRect">
            <a:avLst>
              <a:gd name="adj" fmla="val 6000"/>
            </a:avLst>
          </a:prstGeom>
          <a:solidFill>
            <a:srgbClr val="073763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1945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spc="100">
                <a:solidFill>
                  <a:srgbClr val="8FCBEE"/>
                </a:solidFill>
                <a:latin typeface="Arial"/>
              </a:rPr>
              <a:t>BEST MODEL · v4 FUSION + DiffAct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5603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Arial"/>
              </a:rPr>
              <a:t>74.9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31821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8FCBEE"/>
                </a:solidFill>
                <a:latin typeface="Arial"/>
              </a:rPr>
              <a:t>Acc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25603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Arial"/>
              </a:rPr>
              <a:t>79.5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31821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8FCBEE"/>
                </a:solidFill>
                <a:latin typeface="Arial"/>
              </a:rPr>
              <a:t>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67544" y="256032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200" b="1" i="0">
                <a:solidFill>
                  <a:srgbClr val="F2B138"/>
                </a:solidFill>
                <a:latin typeface="Arial"/>
              </a:rPr>
              <a:t>70.1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7544" y="31821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8FCBEE"/>
                </a:solidFill>
                <a:latin typeface="Arial"/>
              </a:rPr>
              <a:t>F1@50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4747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0" i="1">
                <a:solidFill>
                  <a:srgbClr val="AEC8DF"/>
                </a:solidFill>
                <a:latin typeface="Arial"/>
              </a:rPr>
              <a:t>+13.8 F1@50 over the v1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977639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 w="12700">
            <a:solidFill>
              <a:srgbClr val="D3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4142231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100" b="1" i="0" spc="80">
                <a:solidFill>
                  <a:srgbClr val="D9534F"/>
                </a:solidFill>
                <a:latin typeface="Arial"/>
              </a:rPr>
              <a:t>THE HARD PART: CATCHING FAULTS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4480559"/>
            <a:ext cx="42062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12263A"/>
                </a:solidFill>
                <a:latin typeface="Arial"/>
              </a:rPr>
              <a:t>Incorrect-install recall  </a:t>
            </a:r>
            <a:r>
              <a:rPr sz="1500" b="1" i="0">
                <a:solidFill>
                  <a:srgbClr val="2E9E5B"/>
                </a:solidFill>
                <a:latin typeface="Arial"/>
              </a:rPr>
              <a:t>0% → 10.1%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93775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B"/>
                </a:solidFill>
                <a:latin typeface="Arial"/>
              </a:rPr>
              <a:t>Fusion produced the first non-zero fault recall. It is data-limited — the very gap our own engine dataset is built to close.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7900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000" b="0" i="1">
                <a:solidFill>
                  <a:srgbClr val="5B6B7B"/>
                </a:solidFill>
                <a:latin typeface="Arial"/>
              </a:rPr>
              <a:t>IndustReal test split · 32 recordings · higher is better. Custom engine dataset is being labeled to lift fault detection.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19088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073763"/>
                </a:solidFill>
                <a:latin typeface="Arial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950" b="0" i="0" spc="120">
                <a:solidFill>
                  <a:srgbClr val="5B6B7B"/>
                </a:solidFill>
                <a:latin typeface="Arial"/>
              </a:rPr>
              <a:t>AIOps  ·  Assembly Copilot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7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-18288"/>
            <a:ext cx="12228271" cy="689457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2788920" y="603504"/>
            <a:ext cx="118872" cy="118872"/>
          </a:xfrm>
          <a:prstGeom prst="ellipse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99232" y="530352"/>
            <a:ext cx="73152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00" b="1" i="0" spc="180">
                <a:solidFill>
                  <a:srgbClr val="8FCBEE"/>
                </a:solidFill>
                <a:latin typeface="Arial"/>
              </a:rPr>
              <a:t>ROADMAP &amp; 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02412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Arial"/>
              </a:rPr>
              <a:t>Where we are — and the </a:t>
            </a:r>
            <a:r>
              <a:rPr sz="3000" b="1" i="0">
                <a:solidFill>
                  <a:srgbClr val="8FCBEE"/>
                </a:solidFill>
                <a:latin typeface="Arial"/>
              </a:rPr>
              <a:t>next 90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6596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0C3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2203704"/>
            <a:ext cx="146304" cy="14630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2093976"/>
            <a:ext cx="288036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80">
                <a:solidFill>
                  <a:srgbClr val="2E9E5B"/>
                </a:solidFill>
                <a:latin typeface="Arial"/>
              </a:rPr>
              <a:t>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56946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9E5B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v2 pipeline validated on IndustReal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7" y="307238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9E5B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v4 Fusion + DiffAct — F1@50 70.1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357530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9E5B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SAM3 enrichment lane (masks + inventory)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96596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0C3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0016" y="2203704"/>
            <a:ext cx="146304" cy="146304"/>
          </a:xfrm>
          <a:prstGeom prst="rect">
            <a:avLst/>
          </a:prstGeom>
          <a:solidFill>
            <a:srgbClr val="5A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093976"/>
            <a:ext cx="288036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80">
                <a:solidFill>
                  <a:srgbClr val="5AA9E6"/>
                </a:solidFill>
                <a:latin typeface="Arial"/>
              </a:rPr>
              <a:t>NEXT —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56946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5AA9E6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Fusion fault head → higher incorrect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8304" y="307238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5AA9E6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Near-online causal decode for live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357530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5AA9E6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Assembly-state perception for correctness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965960"/>
            <a:ext cx="3520440" cy="2148840"/>
          </a:xfrm>
          <a:prstGeom prst="roundRect">
            <a:avLst>
              <a:gd name="adj" fmla="val 6000"/>
            </a:avLst>
          </a:prstGeom>
          <a:solidFill>
            <a:srgbClr val="0C3D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94192" y="2203704"/>
            <a:ext cx="146304" cy="146304"/>
          </a:xfrm>
          <a:prstGeom prst="rect">
            <a:avLst/>
          </a:prstGeom>
          <a:solidFill>
            <a:srgbClr val="F2B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2093976"/>
            <a:ext cx="288036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250" b="1" i="0" spc="80">
                <a:solidFill>
                  <a:srgbClr val="F2B138"/>
                </a:solidFill>
                <a:latin typeface="Arial"/>
              </a:rPr>
              <a:t>NEXT —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56946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2B138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Finish labeling the engine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07238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2B138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Stage correct / error / recovery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57530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2B138"/>
                </a:solidFill>
                <a:latin typeface="Arial"/>
              </a:rPr>
              <a:t>› </a:t>
            </a:r>
            <a:r>
              <a:rPr sz="1150" b="0" i="0">
                <a:solidFill>
                  <a:srgbClr val="D6E5F2"/>
                </a:solidFill>
                <a:latin typeface="Arial"/>
              </a:rPr>
              <a:t>Model-assisted labels at scale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4480560"/>
            <a:ext cx="10698480" cy="105156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82296" dist="41148" dir="5400000" rotWithShape="0">
              <a:srgbClr val="0A2136">
                <a:alpha val="7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626864"/>
            <a:ext cx="603504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1300" b="1" i="0" spc="100">
                <a:solidFill>
                  <a:srgbClr val="6E4E00"/>
                </a:solidFill>
                <a:latin typeface="Arial"/>
              </a:rPr>
              <a:t>THE ASK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64608"/>
            <a:ext cx="667512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Bef>
                <a:spcPts val="0"/>
              </a:spcBef>
            </a:pPr>
            <a:r>
              <a:rPr sz="2100" b="1" i="0">
                <a:solidFill>
                  <a:srgbClr val="3A2A00"/>
                </a:solidFill>
                <a:latin typeface="Arial"/>
              </a:rPr>
              <a:t>Approve a one-station, 90-day pilot.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626864"/>
            <a:ext cx="3566160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3A2A00"/>
                </a:solidFill>
                <a:latin typeface="Arial"/>
              </a:rPr>
              <a:t>Measured on: first-pass yield · rework hours · defect escapes · cycle time · evidence completeness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808" y="580644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Arial"/>
              </a:rPr>
              <a:t>Every jet.  Every shift.  </a:t>
            </a:r>
            <a:r>
              <a:rPr sz="1800" b="1" i="0">
                <a:solidFill>
                  <a:srgbClr val="8FCBEE"/>
                </a:solidFill>
                <a:latin typeface="Arial"/>
              </a:rPr>
              <a:t>Every critical step.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