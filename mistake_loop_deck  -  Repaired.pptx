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5" r:id="rId3"/>
    <p:sldId id="266" r:id="rId4"/>
    <p:sldId id="267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243309-828D-4A48-90A5-0F3567CCE5E8}" v="1" dt="2026-07-28T12:55:42.6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36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hom Tesfu" userId="6448980956d802aa" providerId="LiveId" clId="{2A058D5B-3D6C-494F-8F18-682C5EE7B1FD}"/>
    <pc:docChg chg="undo custSel addSld modSld">
      <pc:chgData name="Nahom Tesfu" userId="6448980956d802aa" providerId="LiveId" clId="{2A058D5B-3D6C-494F-8F18-682C5EE7B1FD}" dt="2026-07-28T12:56:53.629" v="23" actId="1036"/>
      <pc:docMkLst>
        <pc:docMk/>
      </pc:docMkLst>
      <pc:sldChg chg="delSp modSp add mod setBg">
        <pc:chgData name="Nahom Tesfu" userId="6448980956d802aa" providerId="LiveId" clId="{2A058D5B-3D6C-494F-8F18-682C5EE7B1FD}" dt="2026-07-28T12:56:26.304" v="7" actId="113"/>
        <pc:sldMkLst>
          <pc:docMk/>
          <pc:sldMk cId="1971414781" sldId="265"/>
        </pc:sldMkLst>
        <pc:spChg chg="mod">
          <ac:chgData name="Nahom Tesfu" userId="6448980956d802aa" providerId="LiveId" clId="{2A058D5B-3D6C-494F-8F18-682C5EE7B1FD}" dt="2026-07-28T12:56:26.304" v="7" actId="113"/>
          <ac:spMkLst>
            <pc:docMk/>
            <pc:sldMk cId="1971414781" sldId="265"/>
            <ac:spMk id="9" creationId="{8D537646-6231-436F-9B30-D153E0D0C74E}"/>
          </ac:spMkLst>
        </pc:spChg>
        <pc:spChg chg="del">
          <ac:chgData name="Nahom Tesfu" userId="6448980956d802aa" providerId="LiveId" clId="{2A058D5B-3D6C-494F-8F18-682C5EE7B1FD}" dt="2026-07-28T12:55:59.169" v="2" actId="478"/>
          <ac:spMkLst>
            <pc:docMk/>
            <pc:sldMk cId="1971414781" sldId="265"/>
            <ac:spMk id="13" creationId="{00CEFA64-3C18-488A-83FE-477F940ABAFB}"/>
          </ac:spMkLst>
        </pc:spChg>
      </pc:sldChg>
      <pc:sldChg chg="delSp modSp add mod setBg">
        <pc:chgData name="Nahom Tesfu" userId="6448980956d802aa" providerId="LiveId" clId="{2A058D5B-3D6C-494F-8F18-682C5EE7B1FD}" dt="2026-07-28T12:56:53.629" v="23" actId="1036"/>
        <pc:sldMkLst>
          <pc:docMk/>
          <pc:sldMk cId="356403652" sldId="266"/>
        </pc:sldMkLst>
        <pc:spChg chg="mod">
          <ac:chgData name="Nahom Tesfu" userId="6448980956d802aa" providerId="LiveId" clId="{2A058D5B-3D6C-494F-8F18-682C5EE7B1FD}" dt="2026-07-28T12:56:53.629" v="23" actId="1036"/>
          <ac:spMkLst>
            <pc:docMk/>
            <pc:sldMk cId="356403652" sldId="266"/>
            <ac:spMk id="6" creationId="{AA9AF399-86EC-4AC4-B517-536377F56FD7}"/>
          </ac:spMkLst>
        </pc:spChg>
        <pc:spChg chg="del">
          <ac:chgData name="Nahom Tesfu" userId="6448980956d802aa" providerId="LiveId" clId="{2A058D5B-3D6C-494F-8F18-682C5EE7B1FD}" dt="2026-07-28T12:55:53.903" v="1" actId="478"/>
          <ac:spMkLst>
            <pc:docMk/>
            <pc:sldMk cId="356403652" sldId="266"/>
            <ac:spMk id="19" creationId="{784D7926-2CFA-4E0B-B9E2-478940B5027A}"/>
          </ac:spMkLst>
        </pc:spChg>
      </pc:sldChg>
      <pc:sldChg chg="add setBg">
        <pc:chgData name="Nahom Tesfu" userId="6448980956d802aa" providerId="LiveId" clId="{2A058D5B-3D6C-494F-8F18-682C5EE7B1FD}" dt="2026-07-28T12:55:42.645" v="0"/>
        <pc:sldMkLst>
          <pc:docMk/>
          <pc:sldMk cId="2049673524" sldId="267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300">
                <a:solidFill>
                  <a:srgbClr val="1A2333"/>
                </a:solidFill>
                <a:latin typeface="Calibri"/>
              </a:rPr>
              <a:t>Held-out error-detection AUC (recordings split)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6B7280"/>
              </a:solidFill>
            </c:spPr>
            <c:extLst>
              <c:ext xmlns:c16="http://schemas.microsoft.com/office/drawing/2014/chart" uri="{C3380CC4-5D6E-409C-BE32-E72D297353CC}">
                <c16:uniqueId val="{00000001-2EB3-4016-8C32-C805A1B56F00}"/>
              </c:ext>
            </c:extLst>
          </c:dPt>
          <c:dPt>
            <c:idx val="1"/>
            <c:invertIfNegative val="1"/>
            <c:bubble3D val="0"/>
            <c:spPr>
              <a:solidFill>
                <a:srgbClr val="0EA59E"/>
              </a:solidFill>
            </c:spPr>
            <c:extLst>
              <c:ext xmlns:c16="http://schemas.microsoft.com/office/drawing/2014/chart" uri="{C3380CC4-5D6E-409C-BE32-E72D297353CC}">
                <c16:uniqueId val="{00000003-2EB3-4016-8C32-C805A1B56F00}"/>
              </c:ext>
            </c:extLst>
          </c:dPt>
          <c:dPt>
            <c:idx val="2"/>
            <c:invertIfNegative val="1"/>
            <c:bubble3D val="0"/>
            <c:spPr>
              <a:solidFill>
                <a:srgbClr val="0EA59E"/>
              </a:solidFill>
            </c:spPr>
            <c:extLst>
              <c:ext xmlns:c16="http://schemas.microsoft.com/office/drawing/2014/chart" uri="{C3380CC4-5D6E-409C-BE32-E72D297353CC}">
                <c16:uniqueId val="{00000005-2EB3-4016-8C32-C805A1B56F00}"/>
              </c:ext>
            </c:extLst>
          </c:dPt>
          <c:dPt>
            <c:idx val="3"/>
            <c:invertIfNegative val="1"/>
            <c:bubble3D val="0"/>
            <c:spPr>
              <a:solidFill>
                <a:srgbClr val="6B7280"/>
              </a:solidFill>
            </c:spPr>
            <c:extLst>
              <c:ext xmlns:c16="http://schemas.microsoft.com/office/drawing/2014/chart" uri="{C3380CC4-5D6E-409C-BE32-E72D297353CC}">
                <c16:uniqueId val="{00000007-2EB3-4016-8C32-C805A1B56F00}"/>
              </c:ext>
            </c:extLst>
          </c:dPt>
          <c:dPt>
            <c:idx val="4"/>
            <c:invertIfNegative val="1"/>
            <c:bubble3D val="0"/>
            <c:spPr>
              <a:solidFill>
                <a:srgbClr val="3B82F6"/>
              </a:solidFill>
            </c:spPr>
            <c:extLst>
              <c:ext xmlns:c16="http://schemas.microsoft.com/office/drawing/2014/chart" uri="{C3380CC4-5D6E-409C-BE32-E72D297353CC}">
                <c16:uniqueId val="{00000009-2EB3-4016-8C32-C805A1B56F00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1A23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VideoMAE
supervised</c:v>
                </c:pt>
                <c:pt idx="1">
                  <c:v>VideoMAE
normal-proto</c:v>
                </c:pt>
                <c:pt idx="2">
                  <c:v>IV2
supervised</c:v>
                </c:pt>
                <c:pt idx="3">
                  <c:v>IV2
normal-proto</c:v>
                </c:pt>
                <c:pt idx="4">
                  <c:v>Omnivore
(paper ref)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0.53400000000000003</c:v>
                </c:pt>
                <c:pt idx="1">
                  <c:v>0.57699999999999996</c:v>
                </c:pt>
                <c:pt idx="2">
                  <c:v>0.63500000000000001</c:v>
                </c:pt>
                <c:pt idx="3">
                  <c:v>0.57399999999999995</c:v>
                </c:pt>
                <c:pt idx="4">
                  <c:v>0.65300000000000002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EB3-4016-8C32-C805A1B56F0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DE3EC"/>
            </a:solidFill>
          </a:ln>
        </c:spPr>
        <c:txPr>
          <a:bodyPr/>
          <a:lstStyle/>
          <a:p>
            <a:pPr>
              <a:defRPr sz="950">
                <a:solidFill>
                  <a:srgbClr val="1A2333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68"/>
          <c:min val="0.45"/>
        </c:scaling>
        <c:delete val="0"/>
        <c:axPos val="l"/>
        <c:majorGridlines>
          <c:spPr>
            <a:ln w="9525">
              <a:solidFill>
                <a:srgbClr val="E9EDF4"/>
              </a:solidFill>
            </a:ln>
          </c:spPr>
        </c:majorGridlines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3BCC8F-A011-429D-A294-1BEAF99A8DA1}" type="datetimeFigureOut">
              <a:rPr lang="en-AE" smtClean="0"/>
              <a:t>28/07/2026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4619D-0D4B-4A6D-AD62-079400FB845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639114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web/labeler.html</a:t>
            </a:r>
          </a:p>
          <a:p>
            <a:r>
              <a:t>- docs/deliverables/hand_atlas_report/procedure_atlas_dataset_labeling_report.tex</a:t>
            </a:r>
          </a:p>
          <a:p>
            <a:r>
              <a:t>- docs/deliverables/hand_atlas_report/figures/procedure_02_hand_overlay.png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web/labeler.html</a:t>
            </a:r>
          </a:p>
          <a:p>
            <a:r>
              <a:t>- docs/deliverables/hand_atlas_report/figures/procedure_03_structured_mistake.png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web/labeler.html</a:t>
            </a:r>
          </a:p>
          <a:p>
            <a:r>
              <a:t>- src/aiops/inference/pipeline.py</a:t>
            </a:r>
          </a:p>
          <a:p>
            <a:r>
              <a:t>- docs/deliverables/hand_atlas_report/procedure_atlas_dataset_labeling_report.tex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7093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543800" y="1051560"/>
            <a:ext cx="4526280" cy="5257800"/>
          </a:xfrm>
          <a:prstGeom prst="roundRect">
            <a:avLst>
              <a:gd name="adj" fmla="val 5000"/>
            </a:avLst>
          </a:prstGeom>
          <a:solidFill>
            <a:srgbClr val="18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82127" y="1298448"/>
            <a:ext cx="3931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CED9EA"/>
                </a:solidFill>
                <a:latin typeface="Calibri"/>
              </a:rPr>
              <a:t>THE 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810512"/>
            <a:ext cx="3886200" cy="1097280"/>
          </a:xfrm>
          <a:prstGeom prst="roundRect">
            <a:avLst>
              <a:gd name="adj" fmla="val 13000"/>
            </a:avLst>
          </a:prstGeom>
          <a:solidFill>
            <a:srgbClr val="0E1726"/>
          </a:solidFill>
          <a:ln w="12700">
            <a:solidFill>
              <a:srgbClr val="2B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092440" y="2112264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92440" y="2103120"/>
            <a:ext cx="502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96528" y="1810512"/>
            <a:ext cx="283464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DETECT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3182112"/>
            <a:ext cx="3886200" cy="1097280"/>
          </a:xfrm>
          <a:prstGeom prst="roundRect">
            <a:avLst>
              <a:gd name="adj" fmla="val 13000"/>
            </a:avLst>
          </a:prstGeom>
          <a:solidFill>
            <a:srgbClr val="0E1726"/>
          </a:solidFill>
          <a:ln w="12700">
            <a:solidFill>
              <a:srgbClr val="2B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092440" y="3483864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92440" y="3474720"/>
            <a:ext cx="502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96528" y="3182112"/>
            <a:ext cx="283464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ATTRIBUTE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4553712"/>
            <a:ext cx="3886200" cy="1097280"/>
          </a:xfrm>
          <a:prstGeom prst="roundRect">
            <a:avLst>
              <a:gd name="adj" fmla="val 13000"/>
            </a:avLst>
          </a:prstGeom>
          <a:solidFill>
            <a:srgbClr val="0E1726"/>
          </a:solidFill>
          <a:ln w="12700">
            <a:solidFill>
              <a:srgbClr val="2B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092440" y="4855464"/>
            <a:ext cx="502920" cy="502920"/>
          </a:xfrm>
          <a:prstGeom prst="ellipse">
            <a:avLst/>
          </a:prstGeom>
          <a:solidFill>
            <a:srgbClr val="0EA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92440" y="4846320"/>
            <a:ext cx="502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96528" y="4553712"/>
            <a:ext cx="283464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RECOVER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685800"/>
            <a:ext cx="3200400" cy="457200"/>
          </a:xfrm>
          <a:prstGeom prst="roundRect">
            <a:avLst>
              <a:gd name="adj" fmla="val 50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667512"/>
            <a:ext cx="32004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 i="0">
                <a:solidFill>
                  <a:srgbClr val="CED9EA"/>
                </a:solidFill>
                <a:latin typeface="Calibri"/>
              </a:rPr>
              <a:t>EGOCENTRIC ASSEMBLY MONITORING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1965960"/>
            <a:ext cx="6675120" cy="2377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000" b="1" i="0">
                <a:solidFill>
                  <a:srgbClr val="FFFFFF"/>
                </a:solidFill>
                <a:latin typeface="Cambria"/>
              </a:rPr>
              <a:t>The Mistake Loop</a:t>
            </a:r>
          </a:p>
          <a:p>
            <a:pPr algn="l">
              <a:spcAft>
                <a:spcPts val="200"/>
              </a:spcAft>
            </a:pPr>
            <a:r>
              <a:rPr sz="2100" b="1" i="0">
                <a:solidFill>
                  <a:srgbClr val="F59E0B"/>
                </a:solidFill>
                <a:latin typeface="Calibri"/>
              </a:rPr>
              <a:t>Detecting, attributing, and recovering from execution errors</a:t>
            </a:r>
          </a:p>
          <a:p>
            <a:pPr algn="l"/>
            <a:r>
              <a:rPr sz="2100" b="0" i="0">
                <a:solidFill>
                  <a:srgbClr val="CED9EA"/>
                </a:solidFill>
                <a:latin typeface="Calibri"/>
              </a:rPr>
              <a:t>in first-person build &amp; assembly video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074920"/>
            <a:ext cx="658368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CED9EA"/>
                </a:solidFill>
                <a:latin typeface="Calibri"/>
              </a:rPr>
              <a:t>An event-triggered error-detection + VLM attribution architecture — what inspired it, where it works today (CaptainCook4D), why IndustReal forced the change, and where it goes next.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263640"/>
            <a:ext cx="6583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AIOps research  ·  Architecture &amp; evaluation review  ·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title">
            <a:extLst>
              <a:ext uri="{FF2B5EF4-FFF2-40B4-BE49-F238E27FC236}">
                <a16:creationId xmlns:a16="http://schemas.microsoft.com/office/drawing/2014/main" id="{A303B984-3D50-4580-97BA-7FD19902F936}"/>
              </a:ext>
            </a:extLst>
          </p:cNvPr>
          <p:cNvSpPr>
            <a:spLocks noGrp="1"/>
          </p:cNvSpPr>
          <p:nvPr/>
        </p:nvSpPr>
        <p:spPr>
          <a:xfrm>
            <a:off x="457200" y="552450"/>
            <a:ext cx="11096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17211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11C"/>
                </a:solidFill>
                <a:latin typeface="Arial"/>
                <a:ea typeface="Arial"/>
                <a:cs typeface="Arial"/>
              </a:rPr>
              <a:t>The labeling app creates the supervision the detector needs</a:t>
            </a:r>
          </a:p>
        </p:txBody>
      </p:sp>
      <p:cxnSp>
        <p:nvCxnSpPr>
          <p:cNvPr id="15" name="top-rule"/>
          <p:cNvCxnSpPr/>
          <p:nvPr/>
        </p:nvCxnSpPr>
        <p:spPr>
          <a:xfrm>
            <a:off x="457200" y="1181100"/>
            <a:ext cx="11277600" cy="0"/>
          </a:xfrm>
          <a:prstGeom prst="straightConnector1">
            <a:avLst/>
          </a:prstGeom>
          <a:ln w="9525">
            <a:solidFill>
              <a:srgbClr val="C8CCC7"/>
            </a:solidFill>
            <a:prstDash val="solid"/>
          </a:ln>
        </p:spPr>
      </p:cxnSp>
      <p:sp>
        <p:nvSpPr>
          <p:cNvPr id="4" name="slide-number">
            <a:extLst>
              <a:ext uri="{FF2B5EF4-FFF2-40B4-BE49-F238E27FC236}">
                <a16:creationId xmlns:a16="http://schemas.microsoft.com/office/drawing/2014/main" id="{8BCFBE0A-527A-4EC4-A0D2-DCBFDA7AECF0}"/>
              </a:ext>
            </a:extLst>
          </p:cNvPr>
          <p:cNvSpPr>
            <a:spLocks noGrp="1"/>
          </p:cNvSpPr>
          <p:nvPr/>
        </p:nvSpPr>
        <p:spPr>
          <a:xfrm>
            <a:off x="11239500" y="6429375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" y="1656710"/>
            <a:ext cx="7143750" cy="4020830"/>
          </a:xfrm>
          <a:prstGeom prst="rect">
            <a:avLst/>
          </a:prstGeom>
        </p:spPr>
      </p:pic>
      <p:sp>
        <p:nvSpPr>
          <p:cNvPr id="6" name="label-bg">
            <a:extLst>
              <a:ext uri="{FF2B5EF4-FFF2-40B4-BE49-F238E27FC236}">
                <a16:creationId xmlns:a16="http://schemas.microsoft.com/office/drawing/2014/main" id="{3B5EE00A-897B-4B51-AC66-523549F1DA9A}"/>
              </a:ext>
            </a:extLst>
          </p:cNvPr>
          <p:cNvSpPr>
            <a:spLocks noGrp="1"/>
          </p:cNvSpPr>
          <p:nvPr/>
        </p:nvSpPr>
        <p:spPr>
          <a:xfrm>
            <a:off x="8020050" y="1476375"/>
            <a:ext cx="1619250" cy="285750"/>
          </a:xfrm>
          <a:prstGeom prst="roundRect">
            <a:avLst>
              <a:gd name="adj" fmla="val 26667"/>
            </a:avLst>
          </a:prstGeom>
          <a:solidFill>
            <a:srgbClr val="D9FF57"/>
          </a:solidFill>
          <a:ln w="9525">
            <a:solidFill>
              <a:srgbClr val="D9FF5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label">
            <a:extLst>
              <a:ext uri="{FF2B5EF4-FFF2-40B4-BE49-F238E27FC236}">
                <a16:creationId xmlns:a16="http://schemas.microsoft.com/office/drawing/2014/main" id="{71857E23-F7BB-4AFA-8162-A3C02DD5F8AB}"/>
              </a:ext>
            </a:extLst>
          </p:cNvPr>
          <p:cNvSpPr>
            <a:spLocks noGrp="1"/>
          </p:cNvSpPr>
          <p:nvPr/>
        </p:nvSpPr>
        <p:spPr>
          <a:xfrm>
            <a:off x="8115300" y="1533525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17211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211C"/>
                </a:solidFill>
                <a:latin typeface="Arial"/>
                <a:ea typeface="Arial"/>
                <a:cs typeface="Arial"/>
              </a:rPr>
              <a:t>P0 — ALWAYS ON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A804622C-684B-42BB-910E-4EA8944637B4}"/>
              </a:ext>
            </a:extLst>
          </p:cNvPr>
          <p:cNvSpPr>
            <a:spLocks noGrp="1"/>
          </p:cNvSpPr>
          <p:nvPr/>
        </p:nvSpPr>
        <p:spPr>
          <a:xfrm>
            <a:off x="8020050" y="1952625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17211C"/>
                </a:solidFill>
                <a:latin typeface="Arial"/>
                <a:ea typeface="Arial"/>
                <a:cs typeface="Arial"/>
              </a:defRPr>
            </a:pPr>
            <a:r>
              <a:rPr sz="1950" b="1" dirty="0">
                <a:solidFill>
                  <a:srgbClr val="17211C"/>
                </a:solidFill>
                <a:latin typeface="Arial"/>
                <a:ea typeface="Arial"/>
                <a:cs typeface="Arial"/>
              </a:rPr>
              <a:t>One synchronized timeline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8D537646-6231-436F-9B30-D153E0D0C74E}"/>
              </a:ext>
            </a:extLst>
          </p:cNvPr>
          <p:cNvSpPr>
            <a:spLocks noGrp="1"/>
          </p:cNvSpPr>
          <p:nvPr/>
        </p:nvSpPr>
        <p:spPr>
          <a:xfrm>
            <a:off x="7972425" y="2628900"/>
            <a:ext cx="32385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17211C"/>
                </a:solidFill>
                <a:latin typeface="Arial"/>
                <a:ea typeface="Arial"/>
                <a:cs typeface="Arial"/>
              </a:defRPr>
            </a:pPr>
            <a:r>
              <a:rPr sz="1400" dirty="0">
                <a:solidFill>
                  <a:srgbClr val="17211C"/>
                </a:solidFill>
                <a:latin typeface="Arial"/>
                <a:ea typeface="Arial"/>
                <a:cs typeface="Arial"/>
              </a:rPr>
              <a:t>Action segments</a:t>
            </a:r>
          </a:p>
          <a:p>
            <a:pPr algn="l">
              <a:defRPr sz="1650" b="0">
                <a:solidFill>
                  <a:srgbClr val="17211C"/>
                </a:solidFill>
                <a:latin typeface="Arial"/>
                <a:ea typeface="Arial"/>
                <a:cs typeface="Arial"/>
              </a:defRPr>
            </a:pPr>
            <a:r>
              <a:rPr sz="1400" dirty="0">
                <a:solidFill>
                  <a:srgbClr val="17211C"/>
                </a:solidFill>
                <a:latin typeface="Arial"/>
                <a:ea typeface="Arial"/>
                <a:cs typeface="Arial"/>
              </a:rPr>
              <a:t>Execution outcome</a:t>
            </a:r>
          </a:p>
          <a:p>
            <a:pPr algn="l">
              <a:defRPr sz="1650" b="0">
                <a:solidFill>
                  <a:srgbClr val="17211C"/>
                </a:solidFill>
                <a:latin typeface="Arial"/>
                <a:ea typeface="Arial"/>
                <a:cs typeface="Arial"/>
              </a:defRPr>
            </a:pPr>
            <a:r>
              <a:rPr sz="1400" dirty="0">
                <a:solidFill>
                  <a:srgbClr val="17211C"/>
                </a:solidFill>
                <a:latin typeface="Arial"/>
                <a:ea typeface="Arial"/>
                <a:cs typeface="Arial"/>
              </a:rPr>
              <a:t>Structured mistake evidence</a:t>
            </a:r>
          </a:p>
          <a:p>
            <a:pPr algn="l">
              <a:defRPr sz="1650" b="0">
                <a:solidFill>
                  <a:srgbClr val="17211C"/>
                </a:solidFill>
                <a:latin typeface="Arial"/>
                <a:ea typeface="Arial"/>
                <a:cs typeface="Arial"/>
              </a:defRPr>
            </a:pPr>
            <a:r>
              <a:rPr sz="1400" dirty="0">
                <a:solidFill>
                  <a:srgbClr val="17211C"/>
                </a:solidFill>
                <a:latin typeface="Arial"/>
                <a:ea typeface="Arial"/>
                <a:cs typeface="Arial"/>
              </a:rPr>
              <a:t>Reviewed 21-joint hand pose</a:t>
            </a:r>
          </a:p>
        </p:txBody>
      </p:sp>
      <p:sp>
        <p:nvSpPr>
          <p:cNvPr id="10" name="label-bg">
            <a:extLst>
              <a:ext uri="{FF2B5EF4-FFF2-40B4-BE49-F238E27FC236}">
                <a16:creationId xmlns:a16="http://schemas.microsoft.com/office/drawing/2014/main" id="{0102D0BC-FB4B-4E64-A393-B57679A4B1AA}"/>
              </a:ext>
            </a:extLst>
          </p:cNvPr>
          <p:cNvSpPr>
            <a:spLocks noGrp="1"/>
          </p:cNvSpPr>
          <p:nvPr/>
        </p:nvSpPr>
        <p:spPr>
          <a:xfrm>
            <a:off x="8020050" y="4429125"/>
            <a:ext cx="1619250" cy="285750"/>
          </a:xfrm>
          <a:prstGeom prst="roundRect">
            <a:avLst>
              <a:gd name="adj" fmla="val 26667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label">
            <a:extLst>
              <a:ext uri="{FF2B5EF4-FFF2-40B4-BE49-F238E27FC236}">
                <a16:creationId xmlns:a16="http://schemas.microsoft.com/office/drawing/2014/main" id="{B7EBD38B-E7AF-4EE3-9B87-AD0C6BCCE938}"/>
              </a:ext>
            </a:extLst>
          </p:cNvPr>
          <p:cNvSpPr>
            <a:spLocks noGrp="1"/>
          </p:cNvSpPr>
          <p:nvPr/>
        </p:nvSpPr>
        <p:spPr>
          <a:xfrm>
            <a:off x="8115300" y="4486275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17211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211C"/>
                </a:solidFill>
                <a:latin typeface="Arial"/>
                <a:ea typeface="Arial"/>
                <a:cs typeface="Arial"/>
              </a:rPr>
              <a:t>P1 — OPTIONAL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355E7FD5-E121-4FC1-A8FF-D6CC38C7DE37}"/>
              </a:ext>
            </a:extLst>
          </p:cNvPr>
          <p:cNvSpPr>
            <a:spLocks noGrp="1"/>
          </p:cNvSpPr>
          <p:nvPr/>
        </p:nvSpPr>
        <p:spPr>
          <a:xfrm>
            <a:off x="8020050" y="4857750"/>
            <a:ext cx="33337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66706A"/>
                </a:solidFill>
                <a:latin typeface="Arial"/>
                <a:ea typeface="Arial"/>
                <a:cs typeface="Arial"/>
              </a:rPr>
              <a:t>Object/tool events, task-state changes, recovery events, and synchronized sensor references can be enabled only when supported.</a:t>
            </a:r>
          </a:p>
        </p:txBody>
      </p:sp>
    </p:spTree>
    <p:extLst>
      <p:ext uri="{BB962C8B-B14F-4D97-AF65-F5344CB8AC3E}">
        <p14:creationId xmlns:p14="http://schemas.microsoft.com/office/powerpoint/2010/main" val="1971414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title">
            <a:extLst>
              <a:ext uri="{FF2B5EF4-FFF2-40B4-BE49-F238E27FC236}">
                <a16:creationId xmlns:a16="http://schemas.microsoft.com/office/drawing/2014/main" id="{D22F5B01-16A2-4821-A3C7-142A1903EFA2}"/>
              </a:ext>
            </a:extLst>
          </p:cNvPr>
          <p:cNvSpPr>
            <a:spLocks noGrp="1"/>
          </p:cNvSpPr>
          <p:nvPr/>
        </p:nvSpPr>
        <p:spPr>
          <a:xfrm>
            <a:off x="457200" y="552450"/>
            <a:ext cx="11096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17211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11C"/>
                </a:solidFill>
                <a:latin typeface="Arial"/>
                <a:ea typeface="Arial"/>
                <a:cs typeface="Arial"/>
              </a:rPr>
              <a:t>Mistakes become machine-readable evidence</a:t>
            </a:r>
          </a:p>
        </p:txBody>
      </p:sp>
      <p:cxnSp>
        <p:nvCxnSpPr>
          <p:cNvPr id="21" name="top-rule"/>
          <p:cNvCxnSpPr/>
          <p:nvPr/>
        </p:nvCxnSpPr>
        <p:spPr>
          <a:xfrm>
            <a:off x="457200" y="1181100"/>
            <a:ext cx="11277600" cy="0"/>
          </a:xfrm>
          <a:prstGeom prst="straightConnector1">
            <a:avLst/>
          </a:prstGeom>
          <a:ln w="9525">
            <a:solidFill>
              <a:srgbClr val="C8CCC7"/>
            </a:solidFill>
            <a:prstDash val="solid"/>
          </a:ln>
        </p:spPr>
      </p:cxnSp>
      <p:sp>
        <p:nvSpPr>
          <p:cNvPr id="4" name="slide-number">
            <a:extLst>
              <a:ext uri="{FF2B5EF4-FFF2-40B4-BE49-F238E27FC236}">
                <a16:creationId xmlns:a16="http://schemas.microsoft.com/office/drawing/2014/main" id="{62A27F09-39AD-4EEF-B53C-66CAA7D98668}"/>
              </a:ext>
            </a:extLst>
          </p:cNvPr>
          <p:cNvSpPr>
            <a:spLocks noGrp="1"/>
          </p:cNvSpPr>
          <p:nvPr/>
        </p:nvSpPr>
        <p:spPr>
          <a:xfrm>
            <a:off x="11239500" y="6429375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" y="1696918"/>
            <a:ext cx="7000875" cy="3940413"/>
          </a:xfrm>
          <a:prstGeom prst="rect">
            <a:avLst/>
          </a:prstGeom>
        </p:spPr>
      </p:pic>
      <p:sp>
        <p:nvSpPr>
          <p:cNvPr id="6" name="text">
            <a:extLst>
              <a:ext uri="{FF2B5EF4-FFF2-40B4-BE49-F238E27FC236}">
                <a16:creationId xmlns:a16="http://schemas.microsoft.com/office/drawing/2014/main" id="{AA9AF399-86EC-4AC4-B517-536377F56FD7}"/>
              </a:ext>
            </a:extLst>
          </p:cNvPr>
          <p:cNvSpPr>
            <a:spLocks noGrp="1"/>
          </p:cNvSpPr>
          <p:nvPr/>
        </p:nvSpPr>
        <p:spPr>
          <a:xfrm>
            <a:off x="7905750" y="1331214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7211C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17211C"/>
                </a:solidFill>
                <a:latin typeface="Arial"/>
                <a:ea typeface="Arial"/>
                <a:cs typeface="Arial"/>
              </a:rPr>
              <a:t>Required for an incorrect segment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E58C3CF7-786D-467E-987E-4D93320B42D1}"/>
              </a:ext>
            </a:extLst>
          </p:cNvPr>
          <p:cNvSpPr>
            <a:spLocks noGrp="1"/>
          </p:cNvSpPr>
          <p:nvPr/>
        </p:nvSpPr>
        <p:spPr>
          <a:xfrm>
            <a:off x="7905750" y="204787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725" b="1">
                <a:solidFill>
                  <a:srgbClr val="FF6B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6B3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886793FF-4C35-4A6D-84AE-6369F685E4DF}"/>
              </a:ext>
            </a:extLst>
          </p:cNvPr>
          <p:cNvSpPr>
            <a:spLocks noGrp="1"/>
          </p:cNvSpPr>
          <p:nvPr/>
        </p:nvSpPr>
        <p:spPr>
          <a:xfrm>
            <a:off x="8334375" y="2047875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17211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1C"/>
                </a:solidFill>
                <a:latin typeface="Arial"/>
                <a:ea typeface="Arial"/>
                <a:cs typeface="Arial"/>
              </a:rPr>
              <a:t>Mistake family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33054E8F-0EB3-47F0-97B2-F90BE27F08F6}"/>
              </a:ext>
            </a:extLst>
          </p:cNvPr>
          <p:cNvSpPr>
            <a:spLocks noGrp="1"/>
          </p:cNvSpPr>
          <p:nvPr/>
        </p:nvSpPr>
        <p:spPr>
          <a:xfrm>
            <a:off x="8334375" y="2343150"/>
            <a:ext cx="3000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6A"/>
                </a:solidFill>
                <a:latin typeface="Arial"/>
                <a:ea typeface="Arial"/>
                <a:cs typeface="Arial"/>
              </a:rPr>
              <a:t>wrong part, order, orientation, tool misuse…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177ABA0B-6123-4767-93F1-F9B558EB1E06}"/>
              </a:ext>
            </a:extLst>
          </p:cNvPr>
          <p:cNvSpPr>
            <a:spLocks noGrp="1"/>
          </p:cNvSpPr>
          <p:nvPr/>
        </p:nvSpPr>
        <p:spPr>
          <a:xfrm>
            <a:off x="7905750" y="292417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725" b="1">
                <a:solidFill>
                  <a:srgbClr val="FF6B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6B3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3CBFC018-13D3-42C4-AFF0-223F650CF027}"/>
              </a:ext>
            </a:extLst>
          </p:cNvPr>
          <p:cNvSpPr>
            <a:spLocks noGrp="1"/>
          </p:cNvSpPr>
          <p:nvPr/>
        </p:nvSpPr>
        <p:spPr>
          <a:xfrm>
            <a:off x="8334375" y="2924175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17211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1C"/>
                </a:solidFill>
                <a:latin typeface="Arial"/>
                <a:ea typeface="Arial"/>
                <a:cs typeface="Arial"/>
              </a:rPr>
              <a:t>Expected state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FC8ABC0B-17FC-4B4B-B81E-A84DA8F28BCC}"/>
              </a:ext>
            </a:extLst>
          </p:cNvPr>
          <p:cNvSpPr>
            <a:spLocks noGrp="1"/>
          </p:cNvSpPr>
          <p:nvPr/>
        </p:nvSpPr>
        <p:spPr>
          <a:xfrm>
            <a:off x="8334375" y="3219450"/>
            <a:ext cx="3000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6A"/>
                </a:solidFill>
                <a:latin typeface="Arial"/>
                <a:ea typeface="Arial"/>
                <a:cs typeface="Arial"/>
              </a:rPr>
              <a:t>what should be true after the step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634B27C8-5B5A-4D23-84EE-8118EDAF2200}"/>
              </a:ext>
            </a:extLst>
          </p:cNvPr>
          <p:cNvSpPr>
            <a:spLocks noGrp="1"/>
          </p:cNvSpPr>
          <p:nvPr/>
        </p:nvSpPr>
        <p:spPr>
          <a:xfrm>
            <a:off x="7905750" y="380047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725" b="1">
                <a:solidFill>
                  <a:srgbClr val="FF6B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6B3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83B5B9D4-7C81-413E-8AC2-1966D403B4A2}"/>
              </a:ext>
            </a:extLst>
          </p:cNvPr>
          <p:cNvSpPr>
            <a:spLocks noGrp="1"/>
          </p:cNvSpPr>
          <p:nvPr/>
        </p:nvSpPr>
        <p:spPr>
          <a:xfrm>
            <a:off x="8334375" y="3800475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17211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1C"/>
                </a:solidFill>
                <a:latin typeface="Arial"/>
                <a:ea typeface="Arial"/>
                <a:cs typeface="Arial"/>
              </a:rPr>
              <a:t>Observed evidence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1242827A-6E42-4EF4-8D01-030BF4A8F9F7}"/>
              </a:ext>
            </a:extLst>
          </p:cNvPr>
          <p:cNvSpPr>
            <a:spLocks noGrp="1"/>
          </p:cNvSpPr>
          <p:nvPr/>
        </p:nvSpPr>
        <p:spPr>
          <a:xfrm>
            <a:off x="8334375" y="4095750"/>
            <a:ext cx="3000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6A"/>
                </a:solidFill>
                <a:latin typeface="Arial"/>
                <a:ea typeface="Arial"/>
                <a:cs typeface="Arial"/>
              </a:rPr>
              <a:t>what contradicts that expectation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9909FA45-1C7A-4179-A79F-36434F67F07A}"/>
              </a:ext>
            </a:extLst>
          </p:cNvPr>
          <p:cNvSpPr>
            <a:spLocks noGrp="1"/>
          </p:cNvSpPr>
          <p:nvPr/>
        </p:nvSpPr>
        <p:spPr>
          <a:xfrm>
            <a:off x="7905750" y="467677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725" b="1">
                <a:solidFill>
                  <a:srgbClr val="FF6B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6B3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042DF378-7C2C-41B1-B066-E96F05E7FF88}"/>
              </a:ext>
            </a:extLst>
          </p:cNvPr>
          <p:cNvSpPr>
            <a:spLocks noGrp="1"/>
          </p:cNvSpPr>
          <p:nvPr/>
        </p:nvSpPr>
        <p:spPr>
          <a:xfrm>
            <a:off x="8334375" y="4676775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17211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1C"/>
                </a:solidFill>
                <a:latin typeface="Arial"/>
                <a:ea typeface="Arial"/>
                <a:cs typeface="Arial"/>
              </a:rPr>
              <a:t>Recovery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2B384B50-A596-4C4B-ABE2-E52CAECCB5DB}"/>
              </a:ext>
            </a:extLst>
          </p:cNvPr>
          <p:cNvSpPr>
            <a:spLocks noGrp="1"/>
          </p:cNvSpPr>
          <p:nvPr/>
        </p:nvSpPr>
        <p:spPr>
          <a:xfrm>
            <a:off x="8334375" y="4972050"/>
            <a:ext cx="3000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6A"/>
                </a:solidFill>
                <a:latin typeface="Arial"/>
                <a:ea typeface="Arial"/>
                <a:cs typeface="Arial"/>
              </a:rPr>
              <a:t>what restores a valid procedure state</a:t>
            </a:r>
          </a:p>
        </p:txBody>
      </p:sp>
    </p:spTree>
    <p:extLst>
      <p:ext uri="{BB962C8B-B14F-4D97-AF65-F5344CB8AC3E}">
        <p14:creationId xmlns:p14="http://schemas.microsoft.com/office/powerpoint/2010/main" val="356403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kicker">
            <a:extLst>
              <a:ext uri="{FF2B5EF4-FFF2-40B4-BE49-F238E27FC236}">
                <a16:creationId xmlns:a16="http://schemas.microsoft.com/office/drawing/2014/main" id="{8F909539-1380-4B49-AB99-B0BA19E61370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FF6B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6B35"/>
                </a:solidFill>
                <a:latin typeface="Arial"/>
                <a:ea typeface="Arial"/>
                <a:cs typeface="Arial"/>
              </a:rPr>
              <a:t>PROCEDURE ATLAS / MISTAKE LOOP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32A59362-ED0B-4D68-B106-61D4E616167C}"/>
              </a:ext>
            </a:extLst>
          </p:cNvPr>
          <p:cNvSpPr>
            <a:spLocks noGrp="1"/>
          </p:cNvSpPr>
          <p:nvPr/>
        </p:nvSpPr>
        <p:spPr>
          <a:xfrm>
            <a:off x="457200" y="552450"/>
            <a:ext cx="11096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17211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11C"/>
                </a:solidFill>
                <a:latin typeface="Arial"/>
                <a:ea typeface="Arial"/>
                <a:cs typeface="Arial"/>
              </a:rPr>
              <a:t>The training bundle turns annotation into aligned model inputs</a:t>
            </a:r>
          </a:p>
        </p:txBody>
      </p:sp>
      <p:cxnSp>
        <p:nvCxnSpPr>
          <p:cNvPr id="25" name="top-rule"/>
          <p:cNvCxnSpPr/>
          <p:nvPr/>
        </p:nvCxnSpPr>
        <p:spPr>
          <a:xfrm>
            <a:off x="457200" y="1181100"/>
            <a:ext cx="11277600" cy="0"/>
          </a:xfrm>
          <a:prstGeom prst="straightConnector1">
            <a:avLst/>
          </a:prstGeom>
          <a:ln w="9525">
            <a:solidFill>
              <a:srgbClr val="C8CCC7"/>
            </a:solidFill>
            <a:prstDash val="solid"/>
          </a:ln>
        </p:spPr>
      </p:cxnSp>
      <p:sp>
        <p:nvSpPr>
          <p:cNvPr id="4" name="slide-number">
            <a:extLst>
              <a:ext uri="{FF2B5EF4-FFF2-40B4-BE49-F238E27FC236}">
                <a16:creationId xmlns:a16="http://schemas.microsoft.com/office/drawing/2014/main" id="{A76D28C3-5543-4478-AB67-976BEE9C812C}"/>
              </a:ext>
            </a:extLst>
          </p:cNvPr>
          <p:cNvSpPr>
            <a:spLocks noGrp="1"/>
          </p:cNvSpPr>
          <p:nvPr/>
        </p:nvSpPr>
        <p:spPr>
          <a:xfrm>
            <a:off x="11239500" y="6429375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6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cxnSp>
        <p:nvCxnSpPr>
          <p:cNvPr id="27" name="flow-arrow"/>
          <p:cNvCxnSpPr/>
          <p:nvPr/>
        </p:nvCxnSpPr>
        <p:spPr>
          <a:xfrm>
            <a:off x="2286000" y="3086100"/>
            <a:ext cx="857250" cy="0"/>
          </a:xfrm>
          <a:prstGeom prst="straightConnector1">
            <a:avLst/>
          </a:prstGeom>
          <a:ln w="19050">
            <a:solidFill>
              <a:srgbClr val="66706A"/>
            </a:solidFill>
            <a:prstDash val="solid"/>
          </a:ln>
        </p:spPr>
      </p:cxnSp>
      <p:cxnSp>
        <p:nvCxnSpPr>
          <p:cNvPr id="28" name="flow-arrow"/>
          <p:cNvCxnSpPr/>
          <p:nvPr/>
        </p:nvCxnSpPr>
        <p:spPr>
          <a:xfrm>
            <a:off x="5143500" y="3086100"/>
            <a:ext cx="857250" cy="0"/>
          </a:xfrm>
          <a:prstGeom prst="straightConnector1">
            <a:avLst/>
          </a:prstGeom>
          <a:ln w="19050">
            <a:solidFill>
              <a:srgbClr val="66706A"/>
            </a:solidFill>
            <a:prstDash val="solid"/>
          </a:ln>
        </p:spPr>
      </p:cxnSp>
      <p:cxnSp>
        <p:nvCxnSpPr>
          <p:cNvPr id="29" name="flow-arrow"/>
          <p:cNvCxnSpPr/>
          <p:nvPr/>
        </p:nvCxnSpPr>
        <p:spPr>
          <a:xfrm>
            <a:off x="8001000" y="3086100"/>
            <a:ext cx="857250" cy="0"/>
          </a:xfrm>
          <a:prstGeom prst="straightConnector1">
            <a:avLst/>
          </a:prstGeom>
          <a:ln w="19050">
            <a:solidFill>
              <a:srgbClr val="66706A"/>
            </a:solidFill>
            <a:prstDash val="solid"/>
          </a:ln>
        </p:spPr>
      </p:cxnSp>
      <p:sp>
        <p:nvSpPr>
          <p:cNvPr id="8" name="stage-1">
            <a:extLst>
              <a:ext uri="{FF2B5EF4-FFF2-40B4-BE49-F238E27FC236}">
                <a16:creationId xmlns:a16="http://schemas.microsoft.com/office/drawing/2014/main" id="{2AEF5032-4815-4C2A-8027-FB1F1A57C271}"/>
              </a:ext>
            </a:extLst>
          </p:cNvPr>
          <p:cNvSpPr>
            <a:spLocks noGrp="1"/>
          </p:cNvSpPr>
          <p:nvPr/>
        </p:nvSpPr>
        <p:spPr>
          <a:xfrm>
            <a:off x="457200" y="2143125"/>
            <a:ext cx="2333625" cy="1905000"/>
          </a:xfrm>
          <a:prstGeom prst="roundRect">
            <a:avLst>
              <a:gd name="adj" fmla="val 4000"/>
            </a:avLst>
          </a:prstGeom>
          <a:solidFill>
            <a:srgbClr val="F1F1ED"/>
          </a:solidFill>
          <a:ln w="9525">
            <a:solidFill>
              <a:srgbClr val="C8CCC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814FC530-A00B-4895-A17F-39AAB1963C61}"/>
              </a:ext>
            </a:extLst>
          </p:cNvPr>
          <p:cNvSpPr>
            <a:spLocks noGrp="1"/>
          </p:cNvSpPr>
          <p:nvPr/>
        </p:nvSpPr>
        <p:spPr>
          <a:xfrm>
            <a:off x="628650" y="238125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7211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1C"/>
                </a:solidFill>
                <a:latin typeface="Arial"/>
                <a:ea typeface="Arial"/>
                <a:cs typeface="Arial"/>
              </a:rPr>
              <a:t>1. Annotate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D051203D-460A-4D00-BDC6-2662FE2FDB92}"/>
              </a:ext>
            </a:extLst>
          </p:cNvPr>
          <p:cNvSpPr>
            <a:spLocks noGrp="1"/>
          </p:cNvSpPr>
          <p:nvPr/>
        </p:nvSpPr>
        <p:spPr>
          <a:xfrm>
            <a:off x="628650" y="2952750"/>
            <a:ext cx="20002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6A"/>
                </a:solidFill>
                <a:latin typeface="Arial"/>
                <a:ea typeface="Arial"/>
                <a:cs typeface="Arial"/>
              </a:rPr>
              <a:t>Actions, outcomes,</a:t>
            </a:r>
          </a:p>
          <a:p>
            <a:pPr algn="l">
              <a:defRPr sz="1350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6A"/>
                </a:solidFill>
                <a:latin typeface="Arial"/>
                <a:ea typeface="Arial"/>
                <a:cs typeface="Arial"/>
              </a:rPr>
              <a:t>hands, optional P1</a:t>
            </a:r>
          </a:p>
        </p:txBody>
      </p:sp>
      <p:sp>
        <p:nvSpPr>
          <p:cNvPr id="11" name="stage-2">
            <a:extLst>
              <a:ext uri="{FF2B5EF4-FFF2-40B4-BE49-F238E27FC236}">
                <a16:creationId xmlns:a16="http://schemas.microsoft.com/office/drawing/2014/main" id="{7EA834CC-05F6-4517-8836-8AC28D449C9A}"/>
              </a:ext>
            </a:extLst>
          </p:cNvPr>
          <p:cNvSpPr>
            <a:spLocks noGrp="1"/>
          </p:cNvSpPr>
          <p:nvPr/>
        </p:nvSpPr>
        <p:spPr>
          <a:xfrm>
            <a:off x="3219450" y="2143125"/>
            <a:ext cx="2333625" cy="1905000"/>
          </a:xfrm>
          <a:prstGeom prst="roundRect">
            <a:avLst>
              <a:gd name="adj" fmla="val 4000"/>
            </a:avLst>
          </a:prstGeom>
          <a:solidFill>
            <a:srgbClr val="F1F1ED"/>
          </a:solidFill>
          <a:ln w="9525">
            <a:solidFill>
              <a:srgbClr val="C8CCC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6F10A2D6-EBFC-4D79-8067-9709A9E905D3}"/>
              </a:ext>
            </a:extLst>
          </p:cNvPr>
          <p:cNvSpPr>
            <a:spLocks noGrp="1"/>
          </p:cNvSpPr>
          <p:nvPr/>
        </p:nvSpPr>
        <p:spPr>
          <a:xfrm>
            <a:off x="3390900" y="238125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7211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1C"/>
                </a:solidFill>
                <a:latin typeface="Arial"/>
                <a:ea typeface="Arial"/>
                <a:cs typeface="Arial"/>
              </a:rPr>
              <a:t>2. Validate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32B3C6C6-7FFD-47A8-B9F8-E20A181A5C55}"/>
              </a:ext>
            </a:extLst>
          </p:cNvPr>
          <p:cNvSpPr>
            <a:spLocks noGrp="1"/>
          </p:cNvSpPr>
          <p:nvPr/>
        </p:nvSpPr>
        <p:spPr>
          <a:xfrm>
            <a:off x="3390900" y="2952750"/>
            <a:ext cx="20002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6A"/>
                </a:solidFill>
                <a:latin typeface="Arial"/>
                <a:ea typeface="Arial"/>
                <a:cs typeface="Arial"/>
              </a:rPr>
              <a:t>Ranges, taxonomy,</a:t>
            </a:r>
          </a:p>
          <a:p>
            <a:pPr algn="l">
              <a:defRPr sz="1350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6A"/>
                </a:solidFill>
                <a:latin typeface="Arial"/>
                <a:ea typeface="Arial"/>
                <a:cs typeface="Arial"/>
              </a:rPr>
              <a:t>provenance, leakage</a:t>
            </a:r>
          </a:p>
        </p:txBody>
      </p:sp>
      <p:sp>
        <p:nvSpPr>
          <p:cNvPr id="14" name="stage-3">
            <a:extLst>
              <a:ext uri="{FF2B5EF4-FFF2-40B4-BE49-F238E27FC236}">
                <a16:creationId xmlns:a16="http://schemas.microsoft.com/office/drawing/2014/main" id="{EA944288-3914-46D3-8EEF-367256C0C6C0}"/>
              </a:ext>
            </a:extLst>
          </p:cNvPr>
          <p:cNvSpPr>
            <a:spLocks noGrp="1"/>
          </p:cNvSpPr>
          <p:nvPr/>
        </p:nvSpPr>
        <p:spPr>
          <a:xfrm>
            <a:off x="6076950" y="2143125"/>
            <a:ext cx="2333625" cy="1905000"/>
          </a:xfrm>
          <a:prstGeom prst="roundRect">
            <a:avLst>
              <a:gd name="adj" fmla="val 4000"/>
            </a:avLst>
          </a:prstGeom>
          <a:solidFill>
            <a:srgbClr val="F1F1ED"/>
          </a:solidFill>
          <a:ln w="9525">
            <a:solidFill>
              <a:srgbClr val="C8CCC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9A7218E4-BA9A-457F-9CBF-3871ED283BCA}"/>
              </a:ext>
            </a:extLst>
          </p:cNvPr>
          <p:cNvSpPr>
            <a:spLocks noGrp="1"/>
          </p:cNvSpPr>
          <p:nvPr/>
        </p:nvSpPr>
        <p:spPr>
          <a:xfrm>
            <a:off x="6248400" y="238125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7211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1C"/>
                </a:solidFill>
                <a:latin typeface="Arial"/>
                <a:ea typeface="Arial"/>
                <a:cs typeface="Arial"/>
              </a:rPr>
              <a:t>3. Export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00FBB5EC-D9F9-45AB-A23F-B0269E8D1D13}"/>
              </a:ext>
            </a:extLst>
          </p:cNvPr>
          <p:cNvSpPr>
            <a:spLocks noGrp="1"/>
          </p:cNvSpPr>
          <p:nvPr/>
        </p:nvSpPr>
        <p:spPr>
          <a:xfrm>
            <a:off x="6248400" y="2952750"/>
            <a:ext cx="20002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6A"/>
                </a:solidFill>
                <a:latin typeface="Arial"/>
                <a:ea typeface="Arial"/>
                <a:cs typeface="Arial"/>
              </a:rPr>
              <a:t>Temporal JSONL,</a:t>
            </a:r>
          </a:p>
          <a:p>
            <a:pPr algn="l">
              <a:defRPr sz="1350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6A"/>
                </a:solidFill>
                <a:latin typeface="Arial"/>
                <a:ea typeface="Arial"/>
                <a:cs typeface="Arial"/>
              </a:rPr>
              <a:t>CSV, COCO, splits</a:t>
            </a:r>
          </a:p>
        </p:txBody>
      </p:sp>
      <p:sp>
        <p:nvSpPr>
          <p:cNvPr id="17" name="stage-4">
            <a:extLst>
              <a:ext uri="{FF2B5EF4-FFF2-40B4-BE49-F238E27FC236}">
                <a16:creationId xmlns:a16="http://schemas.microsoft.com/office/drawing/2014/main" id="{7CA7E271-C9E9-4805-AA2B-87DC9803F90E}"/>
              </a:ext>
            </a:extLst>
          </p:cNvPr>
          <p:cNvSpPr>
            <a:spLocks noGrp="1"/>
          </p:cNvSpPr>
          <p:nvPr/>
        </p:nvSpPr>
        <p:spPr>
          <a:xfrm>
            <a:off x="8934450" y="2143125"/>
            <a:ext cx="2333625" cy="1905000"/>
          </a:xfrm>
          <a:prstGeom prst="roundRect">
            <a:avLst>
              <a:gd name="adj" fmla="val 4000"/>
            </a:avLst>
          </a:prstGeom>
          <a:solidFill>
            <a:srgbClr val="F4FBD7"/>
          </a:solidFill>
          <a:ln w="9525">
            <a:solidFill>
              <a:srgbClr val="C8CCC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13610591-605E-4983-8197-F4EF6BD7C9D1}"/>
              </a:ext>
            </a:extLst>
          </p:cNvPr>
          <p:cNvSpPr>
            <a:spLocks noGrp="1"/>
          </p:cNvSpPr>
          <p:nvPr/>
        </p:nvSpPr>
        <p:spPr>
          <a:xfrm>
            <a:off x="9105900" y="238125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7211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1C"/>
                </a:solidFill>
                <a:latin typeface="Arial"/>
                <a:ea typeface="Arial"/>
                <a:cs typeface="Arial"/>
              </a:rPr>
              <a:t>4. Train / evaluate</a:t>
            </a: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B82E4DEB-A54F-4EB8-BAC9-3C607E466227}"/>
              </a:ext>
            </a:extLst>
          </p:cNvPr>
          <p:cNvSpPr>
            <a:spLocks noGrp="1"/>
          </p:cNvSpPr>
          <p:nvPr/>
        </p:nvSpPr>
        <p:spPr>
          <a:xfrm>
            <a:off x="9105900" y="2952750"/>
            <a:ext cx="20002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6A"/>
                </a:solidFill>
                <a:latin typeface="Arial"/>
                <a:ea typeface="Arial"/>
                <a:cs typeface="Arial"/>
              </a:rPr>
              <a:t>Time-aligned evidence</a:t>
            </a:r>
          </a:p>
          <a:p>
            <a:pPr algn="l">
              <a:defRPr sz="1350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6A"/>
                </a:solidFill>
                <a:latin typeface="Arial"/>
                <a:ea typeface="Arial"/>
                <a:cs typeface="Arial"/>
              </a:rPr>
              <a:t>on one procedure schema</a:t>
            </a:r>
          </a:p>
        </p:txBody>
      </p:sp>
      <p:sp>
        <p:nvSpPr>
          <p:cNvPr id="20" name="contract">
            <a:extLst>
              <a:ext uri="{FF2B5EF4-FFF2-40B4-BE49-F238E27FC236}">
                <a16:creationId xmlns:a16="http://schemas.microsoft.com/office/drawing/2014/main" id="{82267591-4559-49BA-A84D-25923088CE63}"/>
              </a:ext>
            </a:extLst>
          </p:cNvPr>
          <p:cNvSpPr>
            <a:spLocks noGrp="1"/>
          </p:cNvSpPr>
          <p:nvPr/>
        </p:nvSpPr>
        <p:spPr>
          <a:xfrm>
            <a:off x="457200" y="4619625"/>
            <a:ext cx="10810875" cy="1095375"/>
          </a:xfrm>
          <a:prstGeom prst="roundRect">
            <a:avLst>
              <a:gd name="adj" fmla="val 6957"/>
            </a:avLst>
          </a:prstGeom>
          <a:solidFill>
            <a:srgbClr val="101814"/>
          </a:solidFill>
          <a:ln w="9525">
            <a:solidFill>
              <a:srgbClr val="101814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C8409889-F2B4-47AB-9A28-72B7E4AF324D}"/>
              </a:ext>
            </a:extLst>
          </p:cNvPr>
          <p:cNvSpPr>
            <a:spLocks noGrp="1"/>
          </p:cNvSpPr>
          <p:nvPr/>
        </p:nvSpPr>
        <p:spPr>
          <a:xfrm>
            <a:off x="685800" y="48577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D9FF5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FF57"/>
                </a:solidFill>
                <a:latin typeface="Arial"/>
                <a:ea typeface="Arial"/>
                <a:cs typeface="Arial"/>
              </a:rPr>
              <a:t>Shared contract</a:t>
            </a:r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BE2C4CEB-0289-4362-8E79-6836F452A6E1}"/>
              </a:ext>
            </a:extLst>
          </p:cNvPr>
          <p:cNvSpPr>
            <a:spLocks noGrp="1"/>
          </p:cNvSpPr>
          <p:nvPr/>
        </p:nvSpPr>
        <p:spPr>
          <a:xfrm>
            <a:off x="2571750" y="4867275"/>
            <a:ext cx="83343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stable step IDs  •  canonical presentation timestamps  •  participant/session-disjoint splits  •  versioned guidelines</a:t>
            </a:r>
          </a:p>
        </p:txBody>
      </p:sp>
    </p:spTree>
    <p:extLst>
      <p:ext uri="{BB962C8B-B14F-4D97-AF65-F5344CB8AC3E}">
        <p14:creationId xmlns:p14="http://schemas.microsoft.com/office/powerpoint/2010/main" val="2049673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 i="0">
                <a:solidFill>
                  <a:srgbClr val="1A2333"/>
                </a:solidFill>
                <a:latin typeface="Cambria"/>
              </a:rPr>
              <a:t>Where the mistake loop 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12471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monitor answers five questions from a live egocentric stream — the loop owns questions 3–5.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2212848" cy="2148840"/>
          </a:xfrm>
          <a:prstGeom prst="roundRect">
            <a:avLst>
              <a:gd name="adj" fmla="val 7000"/>
            </a:avLst>
          </a:prstGeom>
          <a:solidFill>
            <a:srgbClr val="F3F5F9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96112" y="1847088"/>
            <a:ext cx="566928" cy="566928"/>
          </a:xfrm>
          <a:prstGeom prst="ellipse">
            <a:avLst/>
          </a:prstGeom>
          <a:solidFill>
            <a:srgbClr val="0EA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837944"/>
            <a:ext cx="566928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606040"/>
            <a:ext cx="1938528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50" b="1" i="0">
                <a:solidFill>
                  <a:srgbClr val="1A2333"/>
                </a:solidFill>
                <a:latin typeface="Calibri"/>
              </a:rPr>
              <a:t>Correct step?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246120"/>
            <a:ext cx="1938528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 i="0">
                <a:solidFill>
                  <a:srgbClr val="6B7280"/>
                </a:solidFill>
                <a:latin typeface="Calibri"/>
              </a:rPr>
              <a:t>procedure / step recognition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98648" y="1600200"/>
            <a:ext cx="2212848" cy="2148840"/>
          </a:xfrm>
          <a:prstGeom prst="roundRect">
            <a:avLst>
              <a:gd name="adj" fmla="val 7000"/>
            </a:avLst>
          </a:prstGeom>
          <a:solidFill>
            <a:srgbClr val="F3F5F9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154680" y="1847088"/>
            <a:ext cx="566928" cy="566928"/>
          </a:xfrm>
          <a:prstGeom prst="ellipse">
            <a:avLst/>
          </a:prstGeom>
          <a:solidFill>
            <a:srgbClr val="0EA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54680" y="1837944"/>
            <a:ext cx="566928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4952" y="2606040"/>
            <a:ext cx="1938528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50" b="1" i="0">
                <a:solidFill>
                  <a:srgbClr val="1A2333"/>
                </a:solidFill>
                <a:latin typeface="Calibri"/>
              </a:rPr>
              <a:t>Correct tools &amp; parts?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4952" y="3246120"/>
            <a:ext cx="1938528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 i="0">
                <a:solidFill>
                  <a:srgbClr val="6B7280"/>
                </a:solidFill>
                <a:latin typeface="Calibri"/>
              </a:rPr>
              <a:t>symbolic selection check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57216" y="1600200"/>
            <a:ext cx="2212848" cy="2148840"/>
          </a:xfrm>
          <a:prstGeom prst="roundRect">
            <a:avLst>
              <a:gd name="adj" fmla="val 7000"/>
            </a:avLst>
          </a:prstGeom>
          <a:solidFill>
            <a:srgbClr val="F3F5F9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413248" y="1847088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13248" y="1837944"/>
            <a:ext cx="566928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2606040"/>
            <a:ext cx="1938528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50" b="1" i="0">
                <a:solidFill>
                  <a:srgbClr val="1A2333"/>
                </a:solidFill>
                <a:latin typeface="Calibri"/>
              </a:rPr>
              <a:t>Done the correct way?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246120"/>
            <a:ext cx="1938528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 i="0">
                <a:solidFill>
                  <a:srgbClr val="6B7280"/>
                </a:solidFill>
                <a:latin typeface="Calibri"/>
              </a:rPr>
              <a:t>execution-error detection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15783" y="1600200"/>
            <a:ext cx="2212848" cy="2148840"/>
          </a:xfrm>
          <a:prstGeom prst="roundRect">
            <a:avLst>
              <a:gd name="adj" fmla="val 7000"/>
            </a:avLst>
          </a:prstGeom>
          <a:solidFill>
            <a:srgbClr val="F3F5F9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671815" y="1847088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71815" y="1837944"/>
            <a:ext cx="566928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62088" y="2606040"/>
            <a:ext cx="1938528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50" b="1" i="0">
                <a:solidFill>
                  <a:srgbClr val="1A2333"/>
                </a:solidFill>
                <a:latin typeface="Calibri"/>
              </a:rPr>
              <a:t>What was the mistake?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2088" y="3246120"/>
            <a:ext cx="1938528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 i="0">
                <a:solidFill>
                  <a:srgbClr val="6B7280"/>
                </a:solidFill>
                <a:latin typeface="Calibri"/>
              </a:rPr>
              <a:t>VLM attribution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74351" y="1600200"/>
            <a:ext cx="2212848" cy="2148840"/>
          </a:xfrm>
          <a:prstGeom prst="roundRect">
            <a:avLst>
              <a:gd name="adj" fmla="val 7000"/>
            </a:avLst>
          </a:prstGeom>
          <a:solidFill>
            <a:srgbClr val="F3F5F9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930383" y="1847088"/>
            <a:ext cx="566928" cy="5669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930383" y="1837944"/>
            <a:ext cx="566928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0655" y="2606040"/>
            <a:ext cx="1938528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50" b="1" i="0">
                <a:solidFill>
                  <a:srgbClr val="1A2333"/>
                </a:solidFill>
                <a:latin typeface="Calibri"/>
              </a:rPr>
              <a:t>How to recover?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0655" y="3246120"/>
            <a:ext cx="1938528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 i="0">
                <a:solidFill>
                  <a:srgbClr val="6B7280"/>
                </a:solidFill>
                <a:latin typeface="Calibri"/>
              </a:rPr>
              <a:t>task-graph recovery planner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57216" y="1188720"/>
            <a:ext cx="6729984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  <a:latin typeface="Calibri"/>
              </a:rPr>
              <a:t>OWNED BY THE MISTAKE LOOP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114800"/>
            <a:ext cx="11018520" cy="1965960"/>
          </a:xfrm>
          <a:prstGeom prst="roundRect">
            <a:avLst>
              <a:gd name="adj" fmla="val 5000"/>
            </a:avLst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0120" y="4315968"/>
            <a:ext cx="104241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mbria"/>
              </a:rPr>
              <a:t>One design invariant: the loop enriches, it never gates.</a:t>
            </a:r>
          </a:p>
        </p:txBody>
      </p:sp>
      <p:sp>
        <p:nvSpPr>
          <p:cNvPr id="33" name="Oval 32"/>
          <p:cNvSpPr/>
          <p:nvPr/>
        </p:nvSpPr>
        <p:spPr>
          <a:xfrm>
            <a:off x="960120" y="498348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60120" y="4974336"/>
            <a:ext cx="3657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63040" y="4892040"/>
            <a:ext cx="2971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Event-triggered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5285232"/>
            <a:ext cx="29718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 i="0">
                <a:solidFill>
                  <a:srgbClr val="CED9EA"/>
                </a:solidFill>
                <a:latin typeface="Calibri"/>
              </a:rPr>
              <a:t>Runs only when a detector fires — attribution is off the real-time critical path.</a:t>
            </a:r>
          </a:p>
        </p:txBody>
      </p:sp>
      <p:sp>
        <p:nvSpPr>
          <p:cNvPr id="37" name="Oval 36"/>
          <p:cNvSpPr/>
          <p:nvPr/>
        </p:nvSpPr>
        <p:spPr>
          <a:xfrm>
            <a:off x="4489704" y="498348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489704" y="4974336"/>
            <a:ext cx="3657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92624" y="4892040"/>
            <a:ext cx="2971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Non-blocking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92624" y="5285232"/>
            <a:ext cx="29718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 i="0">
                <a:solidFill>
                  <a:srgbClr val="CED9EA"/>
                </a:solidFill>
                <a:latin typeface="Calibri"/>
              </a:rPr>
              <a:t>A VLM 'no error' verdict is logged as disagreement, never a silent suppression of the alert.</a:t>
            </a:r>
          </a:p>
        </p:txBody>
      </p:sp>
      <p:sp>
        <p:nvSpPr>
          <p:cNvPr id="41" name="Oval 40"/>
          <p:cNvSpPr/>
          <p:nvPr/>
        </p:nvSpPr>
        <p:spPr>
          <a:xfrm>
            <a:off x="8019288" y="498348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019288" y="4974336"/>
            <a:ext cx="3657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22208" y="4892040"/>
            <a:ext cx="2971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Graceful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22208" y="5285232"/>
            <a:ext cx="29718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 i="0">
                <a:solidFill>
                  <a:srgbClr val="CED9EA"/>
                </a:solidFill>
                <a:latin typeface="Calibri"/>
              </a:rPr>
              <a:t>A malformed model reply is coerced or isolated per-event; one bad event never sinks a batch.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4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 i="0">
                <a:solidFill>
                  <a:srgbClr val="1A2333"/>
                </a:solidFill>
                <a:latin typeface="Cambria"/>
              </a:rPr>
              <a:t>Architecture of the mistake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12471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Six swappable Protocol stages over the StateVerify decomposition — every stage disconnects and iterates independently.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  <a:latin typeface="Calibri"/>
              </a:rPr>
              <a:t>UPSTREAM EVIDENCE  (StateVerify decomposition)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10512"/>
            <a:ext cx="3520440" cy="960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96112" y="2048256"/>
            <a:ext cx="237744" cy="237744"/>
          </a:xfrm>
          <a:prstGeom prst="ellipse">
            <a:avLst/>
          </a:prstGeom>
          <a:solidFill>
            <a:srgbClr val="0EA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98448" y="1920240"/>
            <a:ext cx="2743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1" i="0">
                <a:solidFill>
                  <a:srgbClr val="1A2333"/>
                </a:solidFill>
                <a:latin typeface="Calibri"/>
              </a:rPr>
              <a:t>Action / Step Expert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359152"/>
            <a:ext cx="2743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procedure residual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3087" y="1810512"/>
            <a:ext cx="274320" cy="9601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10512"/>
            <a:ext cx="3520440" cy="960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599432" y="2048256"/>
            <a:ext cx="237744" cy="237744"/>
          </a:xfrm>
          <a:prstGeom prst="ellipse">
            <a:avLst/>
          </a:prstGeom>
          <a:solidFill>
            <a:srgbClr val="0EA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1768" y="1920240"/>
            <a:ext cx="2743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1" i="0">
                <a:solidFill>
                  <a:srgbClr val="1A2333"/>
                </a:solidFill>
                <a:latin typeface="Calibri"/>
              </a:rPr>
              <a:t>Component Evidence Observer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1768" y="2359152"/>
            <a:ext cx="2743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execution + effect residual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6408" y="1810512"/>
            <a:ext cx="274320" cy="9601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810512"/>
            <a:ext cx="3520440" cy="960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302751" y="2048256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05088" y="1920240"/>
            <a:ext cx="2743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1" i="0">
                <a:solidFill>
                  <a:srgbClr val="1A2333"/>
                </a:solidFill>
                <a:latin typeface="Calibri"/>
              </a:rPr>
              <a:t>Typed Belief Tracker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05088" y="2359152"/>
            <a:ext cx="2743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fuses residuals → confirmed fault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816352"/>
            <a:ext cx="2194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↓  confirmed fault event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200400"/>
            <a:ext cx="10972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  <a:latin typeface="Calibri"/>
              </a:rPr>
              <a:t>ADJUDICATION PIPELINE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429000"/>
            <a:ext cx="1755648" cy="1371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298448" y="3575304"/>
            <a:ext cx="438912" cy="43891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98448" y="3566160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1" y="4087368"/>
            <a:ext cx="1609344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 i="0">
                <a:solidFill>
                  <a:srgbClr val="1A2333"/>
                </a:solidFill>
                <a:latin typeface="Calibri"/>
              </a:rPr>
              <a:t>Trigger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1" y="4416552"/>
            <a:ext cx="1609344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which events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3429000"/>
            <a:ext cx="118872" cy="1371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6B7280"/>
                </a:solidFill>
                <a:latin typeface="Calibri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478024" y="3429000"/>
            <a:ext cx="1755648" cy="1371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3136391" y="3575304"/>
            <a:ext cx="438912" cy="43891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136391" y="3566160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51176" y="4087368"/>
            <a:ext cx="1609344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 i="0">
                <a:solidFill>
                  <a:srgbClr val="1A2333"/>
                </a:solidFill>
                <a:latin typeface="Calibri"/>
              </a:rPr>
              <a:t>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51176" y="4416552"/>
            <a:ext cx="1609344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frames + state + context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15384" y="3429000"/>
            <a:ext cx="118872" cy="1371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6B7280"/>
                </a:solidFill>
                <a:latin typeface="Calibri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5968" y="3429000"/>
            <a:ext cx="1755648" cy="1371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4974336" y="3575304"/>
            <a:ext cx="438912" cy="43891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974336" y="3566160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4087368"/>
            <a:ext cx="1609344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 i="0">
                <a:solidFill>
                  <a:srgbClr val="1A2333"/>
                </a:solidFill>
                <a:latin typeface="Calibri"/>
              </a:rPr>
              <a:t>Prompt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4416552"/>
            <a:ext cx="1609344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model-agnostic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53328" y="3429000"/>
            <a:ext cx="118872" cy="1371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6B7280"/>
                </a:solidFill>
                <a:latin typeface="Calibri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53912" y="3429000"/>
            <a:ext cx="1755648" cy="1371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6812279" y="3575304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812279" y="3566160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27064" y="4087368"/>
            <a:ext cx="1609344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 i="0">
                <a:solidFill>
                  <a:srgbClr val="1A2333"/>
                </a:solidFill>
                <a:latin typeface="Calibri"/>
              </a:rPr>
              <a:t>VLM Backend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27064" y="4416552"/>
            <a:ext cx="1609344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 i="0" dirty="0">
                <a:solidFill>
                  <a:srgbClr val="6B7280"/>
                </a:solidFill>
                <a:latin typeface="Calibri"/>
              </a:rPr>
              <a:t>Qwen2.5-VL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91271" y="3429000"/>
            <a:ext cx="118872" cy="1371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6B7280"/>
                </a:solidFill>
                <a:latin typeface="Calibri"/>
              </a:rPr>
              <a:t>›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991855" y="3429000"/>
            <a:ext cx="1755648" cy="1371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8650224" y="3575304"/>
            <a:ext cx="438912" cy="43891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650224" y="3566160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65007" y="4087368"/>
            <a:ext cx="1609344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 i="0">
                <a:solidFill>
                  <a:srgbClr val="1A2333"/>
                </a:solidFill>
                <a:latin typeface="Calibri"/>
              </a:rPr>
              <a:t>Parser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65007" y="4416552"/>
            <a:ext cx="1609344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validated JSON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29215" y="3429000"/>
            <a:ext cx="118872" cy="1371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6B7280"/>
                </a:solidFill>
                <a:latin typeface="Calibri"/>
              </a:rPr>
              <a:t>›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829799" y="3429000"/>
            <a:ext cx="1755648" cy="1371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0EA5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10488167" y="3575304"/>
            <a:ext cx="438912" cy="438912"/>
          </a:xfrm>
          <a:prstGeom prst="ellipse">
            <a:avLst/>
          </a:prstGeom>
          <a:solidFill>
            <a:srgbClr val="0EA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488167" y="3566160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02951" y="4087368"/>
            <a:ext cx="1609344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 i="0">
                <a:solidFill>
                  <a:srgbClr val="1A2333"/>
                </a:solidFill>
                <a:latin typeface="Calibri"/>
              </a:rPr>
              <a:t>Fuser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02951" y="4416552"/>
            <a:ext cx="1609344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attach, never suppress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" y="5120640"/>
            <a:ext cx="11018520" cy="9601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14400" y="5230368"/>
            <a:ext cx="27432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Structured output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urier New"/>
              </a:rPr>
              <a:t>ATTRIBUTION_SCHEMA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600" y="5230368"/>
            <a:ext cx="777240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50" b="0" i="0">
                <a:solidFill>
                  <a:srgbClr val="1A2333"/>
                </a:solidFill>
                <a:latin typeface="Calibri"/>
              </a:rPr>
              <a:t>has_error · mistake_family · subtype · description · expected · observed · violated_role · evidence · confidence · rationale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 i="0">
                <a:solidFill>
                  <a:srgbClr val="1A2333"/>
                </a:solidFill>
                <a:latin typeface="Cambria"/>
              </a:rPr>
              <a:t>What inspired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12471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Four ideas, chosen because the data said discriminative error classifiers cannot be learned from scarce faults.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32688" y="1984248"/>
            <a:ext cx="640080" cy="640080"/>
          </a:xfrm>
          <a:prstGeom prst="ellipse">
            <a:avLst/>
          </a:prstGeom>
          <a:solidFill>
            <a:srgbClr val="0EA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975104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965960"/>
            <a:ext cx="411480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50" b="1" i="0">
                <a:solidFill>
                  <a:srgbClr val="1A2333"/>
                </a:solidFill>
                <a:latin typeface="Calibri"/>
              </a:rPr>
              <a:t>Learn normal, flag deviation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624328"/>
            <a:ext cx="416052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A5A"/>
                </a:solidFill>
                <a:latin typeface="Calibri"/>
              </a:rPr>
              <a:t>An expected-effect / expected-normal model trains on abundant CORRECT executions; the residual is divergence from expected. No dependence on rare error labels.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91640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556248" y="1984248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56248" y="1975104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965960"/>
            <a:ext cx="411480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50" b="1" i="0">
                <a:solidFill>
                  <a:srgbClr val="1A2333"/>
                </a:solidFill>
                <a:latin typeface="Calibri"/>
              </a:rPr>
              <a:t>Manufacture the missing supervision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624328"/>
            <a:ext cx="416052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A5A"/>
                </a:solidFill>
                <a:latin typeface="Calibri"/>
              </a:rPr>
              <a:t>A counterfactual error engine synthesizes hard wrong-part / wrong-target / wrong-effect negatives, so the incorrect classes and a margin-ranking loss are actually exercised.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40480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32688" y="4133088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4123944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4114800"/>
            <a:ext cx="411480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50" b="1" i="0">
                <a:solidFill>
                  <a:srgbClr val="1A2333"/>
                </a:solidFill>
                <a:latin typeface="Calibri"/>
              </a:rPr>
              <a:t>Attribute with a reasoning VLM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4773168"/>
            <a:ext cx="416052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A5A"/>
                </a:solidFill>
                <a:latin typeface="Calibri"/>
              </a:rPr>
              <a:t>Event-triggered chain-of-thought adjudication (after TI-PREGO) turns a scalar alarm into a named mistake — the enrichment a detector cannot give.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840480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556248" y="4133088"/>
            <a:ext cx="640080" cy="640080"/>
          </a:xfrm>
          <a:prstGeom prst="ellipse">
            <a:avLst/>
          </a:prstGeom>
          <a:solidFill>
            <a:srgbClr val="DC3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56248" y="4123944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4114800"/>
            <a:ext cx="411480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50" b="1" i="0">
                <a:solidFill>
                  <a:srgbClr val="1A2333"/>
                </a:solidFill>
                <a:latin typeface="Calibri"/>
              </a:rPr>
              <a:t>Route by fault type, not one detector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4773168"/>
            <a:ext cx="416052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A5A"/>
                </a:solidFill>
                <a:latin typeface="Calibri"/>
              </a:rPr>
              <a:t>The cross-dataset finding: semantic faults are learnable; spatial/geometric faults are 2-D-invisible. Different regimes need different evidence — so the loop is modular.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 i="0">
                <a:solidFill>
                  <a:srgbClr val="1A2333"/>
                </a:solidFill>
                <a:latin typeface="Cambria"/>
              </a:rPr>
              <a:t>Why we changed the evaluation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12471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IndustReal recognition is healthy — but held-out error detection hit a structural wall, twice-confirmed.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  <a:latin typeface="Calibri"/>
              </a:rPr>
              <a:t>THE BLOCKER  (official + operator-disjoint splits)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2606040" cy="128016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2048256"/>
            <a:ext cx="228600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 i="0">
                <a:solidFill>
                  <a:srgbClr val="DC3D43"/>
                </a:solidFill>
                <a:latin typeface="Cambria"/>
              </a:rPr>
              <a:t>2.5%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761488"/>
            <a:ext cx="22860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1A2333"/>
                </a:solidFill>
                <a:latin typeface="Calibri"/>
              </a:rPr>
              <a:t>installed_incorrect state F1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920240"/>
            <a:ext cx="2606040" cy="128016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66160" y="2048256"/>
            <a:ext cx="228600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 i="0">
                <a:solidFill>
                  <a:srgbClr val="DC3D43"/>
                </a:solidFill>
                <a:latin typeface="Cambria"/>
              </a:rPr>
              <a:t>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761488"/>
            <a:ext cx="22860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1A2333"/>
                </a:solidFill>
                <a:latin typeface="Calibri"/>
              </a:rPr>
              <a:t>complete_incorrect effect F1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337560"/>
            <a:ext cx="2606040" cy="128016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59" y="3465576"/>
            <a:ext cx="228600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 i="0">
                <a:solidFill>
                  <a:srgbClr val="DC3D43"/>
                </a:solidFill>
                <a:latin typeface="Cambria"/>
              </a:rPr>
              <a:t>0 / 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178808"/>
            <a:ext cx="22860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1A2333"/>
                </a:solidFill>
                <a:latin typeface="Calibri"/>
              </a:rPr>
              <a:t>held-out errors caught @ ≤0.5 FA/min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3337560"/>
            <a:ext cx="2606040" cy="128016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66160" y="3465576"/>
            <a:ext cx="228600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 i="0">
                <a:solidFill>
                  <a:srgbClr val="F59E0B"/>
                </a:solidFill>
                <a:latin typeface="Cambria"/>
              </a:rPr>
              <a:t>~0.65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4178808"/>
            <a:ext cx="22860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1A2333"/>
                </a:solidFill>
                <a:latin typeface="Calibri"/>
              </a:rPr>
              <a:t>AUC ceiling across ALL 2-D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892040"/>
            <a:ext cx="5486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A2333"/>
                </a:solidFill>
                <a:latin typeface="Calibri"/>
              </a:rPr>
              <a:t>Two structural causes — neither is tuning: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257800"/>
            <a:ext cx="539496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DC3D43"/>
                </a:solidFill>
                <a:latin typeface="Calibri"/>
              </a:rPr>
              <a:t>Scarcity — </a:t>
            </a:r>
            <a:r>
              <a:rPr sz="1200" b="0" i="0">
                <a:solidFill>
                  <a:srgbClr val="1A2333"/>
                </a:solidFill>
                <a:latin typeface="Calibri"/>
              </a:rPr>
              <a:t>only ~19 real error events; a 4-recording overfit hits 66.7 F1, so the branch fits faults — it can't generalise from 19.</a:t>
            </a:r>
          </a:p>
          <a:p>
            <a:pPr algn="l"/>
            <a:r>
              <a:rPr sz="1200" b="1" i="0">
                <a:solidFill>
                  <a:srgbClr val="DC3D43"/>
                </a:solidFill>
                <a:latin typeface="Calibri"/>
              </a:rPr>
              <a:t>Invisibility — </a:t>
            </a:r>
            <a:r>
              <a:rPr sz="1200" b="0" i="0">
                <a:solidFill>
                  <a:srgbClr val="1A2333"/>
                </a:solidFill>
                <a:latin typeface="Calibri"/>
              </a:rPr>
              <a:t>pin / orientation / connection faults are geometric; no 2-D encoder (motion, ConvNeXt, Grounding DINO, SAM3, InternVideo2) exceeds ~0.65 AUC.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783080"/>
            <a:ext cx="5257800" cy="4480560"/>
          </a:xfrm>
          <a:prstGeom prst="roundRect">
            <a:avLst>
              <a:gd name="adj" fmla="val 5000"/>
            </a:avLst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20840" y="2011680"/>
            <a:ext cx="466344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mbria"/>
              </a:rPr>
              <a:t>Independently corroborated</a:t>
            </a:r>
          </a:p>
          <a:p>
            <a:pPr algn="l"/>
            <a:r>
              <a:rPr sz="1200" b="0" i="0">
                <a:solidFill>
                  <a:srgbClr val="CED9EA"/>
                </a:solidFill>
                <a:latin typeface="Calibri"/>
              </a:rPr>
              <a:t>A separate codebase (psr_tas), same IndustReal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2971800"/>
            <a:ext cx="4663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CED9EA"/>
                </a:solidFill>
                <a:latin typeface="Calibri"/>
              </a:rPr>
              <a:t>TYPE-head incorrect-install recall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20840" y="3291840"/>
            <a:ext cx="2148840" cy="1051560"/>
          </a:xfrm>
          <a:prstGeom prst="roundRect">
            <a:avLst>
              <a:gd name="adj" fmla="val 10000"/>
            </a:avLst>
          </a:prstGeom>
          <a:solidFill>
            <a:srgbClr val="18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0" y="3383280"/>
            <a:ext cx="19202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DC3D43"/>
                </a:solidFill>
                <a:latin typeface="Cambria"/>
              </a:rPr>
              <a:t>0.0%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977639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CED9EA"/>
                </a:solidFill>
                <a:latin typeface="Calibri"/>
              </a:rPr>
              <a:t>motion features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59" y="3291840"/>
            <a:ext cx="2148840" cy="1051560"/>
          </a:xfrm>
          <a:prstGeom prst="roundRect">
            <a:avLst>
              <a:gd name="adj" fmla="val 10000"/>
            </a:avLst>
          </a:prstGeom>
          <a:solidFill>
            <a:srgbClr val="18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89719" y="3383280"/>
            <a:ext cx="19202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F59E0B"/>
                </a:solidFill>
                <a:latin typeface="Cambria"/>
              </a:rPr>
              <a:t>10.1%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19" y="3977639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CED9EA"/>
                </a:solidFill>
                <a:latin typeface="Calibri"/>
              </a:rPr>
              <a:t>+ semantic fusion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4526280"/>
            <a:ext cx="4663440" cy="1554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1">
                <a:solidFill>
                  <a:srgbClr val="FFFFFF"/>
                </a:solidFill>
                <a:latin typeface="Calibri"/>
              </a:rPr>
              <a:t>"Correctness is </a:t>
            </a:r>
            <a:r>
              <a:rPr sz="1350" b="1" i="1">
                <a:solidFill>
                  <a:srgbClr val="F59E0B"/>
                </a:solidFill>
                <a:latin typeface="Calibri"/>
              </a:rPr>
              <a:t>data-limited, not architecture-limited</a:t>
            </a:r>
            <a:r>
              <a:rPr sz="1350" b="0" i="1">
                <a:solidFill>
                  <a:srgbClr val="FFFFFF"/>
                </a:solidFill>
                <a:latin typeface="Calibri"/>
              </a:rPr>
              <a:t>."</a:t>
            </a:r>
          </a:p>
          <a:p>
            <a:pPr algn="l"/>
            <a:r>
              <a:rPr sz="1150" b="0" i="0">
                <a:solidFill>
                  <a:srgbClr val="CED9EA"/>
                </a:solidFill>
                <a:latin typeface="Calibri"/>
              </a:rPr>
              <a:t>Bigger encoders (L14) and better heads did not move it. The lever is more, sharper error labels — which motivated moving evaluation to an error-dense dataset.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 i="0">
                <a:solidFill>
                  <a:srgbClr val="1A2333"/>
                </a:solidFill>
                <a:latin typeface="Cambria"/>
              </a:rPr>
              <a:t>CaptainCook4D validates the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12471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An error-dense egocentric dataset: 5,413 step segments · 1,683 real errors (31%) · 8 categories · 8 persons  (≈88× IndustReal).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874519"/>
          <a:ext cx="59436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742432"/>
            <a:ext cx="5669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1">
                <a:solidFill>
                  <a:srgbClr val="6B7280"/>
                </a:solidFill>
                <a:latin typeface="Calibri"/>
              </a:rPr>
              <a:t>Chance = 0.50.  Semantic features (InternVideo2) + our expected-normal detector reach the achievable band.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783080"/>
            <a:ext cx="4754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  <a:latin typeface="Calibri"/>
              </a:rPr>
              <a:t>WHAT IT SHOWS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2148840"/>
            <a:ext cx="4800600" cy="1188720"/>
          </a:xfrm>
          <a:prstGeom prst="roundRect">
            <a:avLst>
              <a:gd name="adj" fmla="val 7000"/>
            </a:avLst>
          </a:prstGeom>
          <a:solidFill>
            <a:srgbClr val="F3F5F9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077456" y="2368296"/>
            <a:ext cx="384048" cy="384048"/>
          </a:xfrm>
          <a:prstGeom prst="ellipse">
            <a:avLst/>
          </a:prstGeom>
          <a:solidFill>
            <a:srgbClr val="0EA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77456" y="2359152"/>
            <a:ext cx="38404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2295144"/>
            <a:ext cx="3886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A2333"/>
                </a:solidFill>
                <a:latin typeface="Calibri"/>
              </a:rPr>
              <a:t>Feature family is decisive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2715768"/>
            <a:ext cx="39319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54F60"/>
                </a:solidFill>
                <a:latin typeface="Calibri"/>
              </a:rPr>
              <a:t>A semantic backbone lifts the supervised detector +0.08–0.12 AUC over motion, which sits at chance for these errors.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3429000"/>
            <a:ext cx="4800600" cy="1188720"/>
          </a:xfrm>
          <a:prstGeom prst="roundRect">
            <a:avLst>
              <a:gd name="adj" fmla="val 7000"/>
            </a:avLst>
          </a:prstGeom>
          <a:solidFill>
            <a:srgbClr val="F3F5F9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077456" y="3648456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77456" y="3639312"/>
            <a:ext cx="38404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3575304"/>
            <a:ext cx="3886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A2333"/>
                </a:solidFill>
                <a:latin typeface="Calibri"/>
              </a:rPr>
              <a:t>Our detector wins when data/features are weak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3995928"/>
            <a:ext cx="39319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54F60"/>
                </a:solidFill>
                <a:latin typeface="Calibri"/>
              </a:rPr>
              <a:t>Expected-normal is backbone-robust (0.56–0.60) and beats the supervised head in the weak regime — exactly the IndustReal regime.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4709160"/>
            <a:ext cx="4800600" cy="1188720"/>
          </a:xfrm>
          <a:prstGeom prst="roundRect">
            <a:avLst>
              <a:gd name="adj" fmla="val 7000"/>
            </a:avLst>
          </a:prstGeom>
          <a:solidFill>
            <a:srgbClr val="F3F5F9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077456" y="4928616"/>
            <a:ext cx="384048" cy="38404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77456" y="4919472"/>
            <a:ext cx="38404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4855464"/>
            <a:ext cx="3886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A2333"/>
                </a:solidFill>
                <a:latin typeface="Calibri"/>
              </a:rPr>
              <a:t>Balanced, usable errors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5276088"/>
            <a:ext cx="39319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54F60"/>
                </a:solidFill>
                <a:latin typeface="Calibri"/>
              </a:rPr>
              <a:t>Per-category recall ≈0.63–0.78 at ~40% precision — vs IndustReal's ~0–2.5% F1. The method works where the error is visible.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 i="0">
                <a:solidFill>
                  <a:srgbClr val="1A2333"/>
                </a:solidFill>
                <a:latin typeface="Cambria"/>
              </a:rPr>
              <a:t>Naming the mistake — first attribution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12471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Qwen2.5-VL adjudicator on held-out CaptainCook4D error events (chain-of-thought, no ground-truth leakage).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2651760" cy="1783080"/>
          </a:xfrm>
          <a:prstGeom prst="roundRect">
            <a:avLst>
              <a:gd name="adj" fmla="val 7000"/>
            </a:avLst>
          </a:prstGeom>
          <a:solidFill>
            <a:srgbClr val="F3F5F9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828800"/>
            <a:ext cx="23317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600" b="1" i="0">
                <a:solidFill>
                  <a:srgbClr val="0EA59E"/>
                </a:solidFill>
                <a:latin typeface="Cambria"/>
              </a:rPr>
              <a:t>1.00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578608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A2333"/>
                </a:solidFill>
                <a:latin typeface="Calibri"/>
              </a:rPr>
              <a:t>coverage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944368"/>
            <a:ext cx="2331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every event returns a valid, schema-checked attribution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9856" y="1691640"/>
            <a:ext cx="2651760" cy="1783080"/>
          </a:xfrm>
          <a:prstGeom prst="roundRect">
            <a:avLst>
              <a:gd name="adj" fmla="val 7000"/>
            </a:avLst>
          </a:prstGeom>
          <a:solidFill>
            <a:srgbClr val="F3F5F9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02736" y="1828800"/>
            <a:ext cx="23317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600" b="1" i="0">
                <a:solidFill>
                  <a:srgbClr val="F59E0B"/>
                </a:solidFill>
                <a:latin typeface="Cambria"/>
              </a:rPr>
              <a:t>0.375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2736" y="2578608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A2333"/>
                </a:solidFill>
                <a:latin typeface="Calibri"/>
              </a:rPr>
              <a:t>family 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2736" y="2944368"/>
            <a:ext cx="2331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3× the 1-in-8 chance baseline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691640"/>
            <a:ext cx="2651760" cy="1783080"/>
          </a:xfrm>
          <a:prstGeom prst="roundRect">
            <a:avLst>
              <a:gd name="adj" fmla="val 7000"/>
            </a:avLst>
          </a:prstGeom>
          <a:solidFill>
            <a:srgbClr val="F3F5F9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82512" y="1828800"/>
            <a:ext cx="23317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600" b="1" i="0">
                <a:solidFill>
                  <a:srgbClr val="3B82F6"/>
                </a:solidFill>
                <a:latin typeface="Cambria"/>
              </a:rPr>
              <a:t>0.40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578608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A2333"/>
                </a:solidFill>
                <a:latin typeface="Calibri"/>
              </a:rPr>
              <a:t>description token-F1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944368"/>
            <a:ext cx="2331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free-text 'what happened' overlap with ground truth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79408" y="1691640"/>
            <a:ext cx="2651760" cy="1783080"/>
          </a:xfrm>
          <a:prstGeom prst="roundRect">
            <a:avLst>
              <a:gd name="adj" fmla="val 7000"/>
            </a:avLst>
          </a:prstGeom>
          <a:solidFill>
            <a:srgbClr val="F3F5F9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62288" y="1828800"/>
            <a:ext cx="23317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600" b="1" i="0">
                <a:solidFill>
                  <a:srgbClr val="6B7280"/>
                </a:solidFill>
                <a:latin typeface="Cambria"/>
              </a:rPr>
              <a:t>0.96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62288" y="2578608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A2333"/>
                </a:solidFill>
                <a:latin typeface="Calibri"/>
              </a:rPr>
              <a:t>mean confidence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62288" y="2944368"/>
            <a:ext cx="2331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well-formed, decisive outputs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749039"/>
            <a:ext cx="5486400" cy="2331720"/>
          </a:xfrm>
          <a:prstGeom prst="roundRect">
            <a:avLst>
              <a:gd name="adj" fmla="val 5000"/>
            </a:avLst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3931920"/>
            <a:ext cx="49377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mbria"/>
              </a:rPr>
              <a:t>Descriptions land even when the family is wrong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526280"/>
            <a:ext cx="49834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 i="0">
                <a:solidFill>
                  <a:srgbClr val="CED9EA"/>
                </a:solidFill>
                <a:latin typeface="Calibri"/>
              </a:rPr>
              <a:t>Predicted: </a:t>
            </a:r>
            <a:r>
              <a:rPr sz="1250" b="0" i="1">
                <a:solidFill>
                  <a:srgbClr val="0EA59E"/>
                </a:solidFill>
                <a:latin typeface="Calibri"/>
              </a:rPr>
              <a:t>"cracked the egg on the counter instead of the bowl"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120640"/>
            <a:ext cx="498348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 i="0">
                <a:solidFill>
                  <a:srgbClr val="CED9EA"/>
                </a:solidFill>
                <a:latin typeface="Calibri"/>
              </a:rPr>
              <a:t>The core objective — 'what was the mistake' — is already being answered in natural language; the structured family label is the part still being tuned.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749039"/>
            <a:ext cx="5257800" cy="2331720"/>
          </a:xfrm>
          <a:prstGeom prst="roundRect">
            <a:avLst>
              <a:gd name="adj" fmla="val 5000"/>
            </a:avLst>
          </a:prstGeom>
          <a:solidFill>
            <a:srgbClr val="F3F5F9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75120" y="3931920"/>
            <a:ext cx="47548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Cambria"/>
              </a:rPr>
              <a:t>Failure mode → fix (prompt-only)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480560"/>
            <a:ext cx="480060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A2333"/>
                </a:solidFill>
                <a:latin typeface="Calibri"/>
              </a:rPr>
              <a:t>Bias: </a:t>
            </a:r>
            <a:r>
              <a:rPr sz="1200" b="0" i="0">
                <a:solidFill>
                  <a:srgbClr val="404A5A"/>
                </a:solidFill>
                <a:latin typeface="Calibri"/>
              </a:rPr>
              <a:t>"Missing Step" over-predicted (5/8) — any unmet-goal deviation got that label.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5230368"/>
            <a:ext cx="48006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A2333"/>
                </a:solidFill>
                <a:latin typeface="Calibri"/>
              </a:rPr>
              <a:t>Fix: </a:t>
            </a:r>
            <a:r>
              <a:rPr sz="1200" b="0" i="0">
                <a:solidFill>
                  <a:srgbClr val="404A5A"/>
                </a:solidFill>
                <a:latin typeface="Calibri"/>
              </a:rPr>
              <a:t>injected family definitions + an omitted-vs-attempted disambiguation rule + leakage-free few-shot exemplars — all swappable, no backend/schema change.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The architecture we're betting will move the needle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15568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0">
                <a:solidFill>
                  <a:srgbClr val="CED9EA"/>
                </a:solidFill>
                <a:latin typeface="Calibri"/>
              </a:rPr>
              <a:t>Stop asking one frozen-feature scalar head to carry error detection. Make the task graph the spine and the VLM a grounded verifier.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3520440" cy="2057400"/>
          </a:xfrm>
          <a:prstGeom prst="roundRect">
            <a:avLst>
              <a:gd name="adj" fmla="val 7000"/>
            </a:avLst>
          </a:prstGeom>
          <a:solidFill>
            <a:srgbClr val="182742"/>
          </a:solidFill>
          <a:ln w="12700">
            <a:solidFill>
              <a:srgbClr val="2A3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96112" y="2130552"/>
            <a:ext cx="457200" cy="457200"/>
          </a:xfrm>
          <a:prstGeom prst="ellipse">
            <a:avLst/>
          </a:prstGeom>
          <a:solidFill>
            <a:srgbClr val="0EA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2121408"/>
            <a:ext cx="4572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093976"/>
            <a:ext cx="2560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Task-graph–first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807208"/>
            <a:ext cx="306324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CED9EA"/>
                </a:solidFill>
                <a:latin typeface="Calibri"/>
              </a:rPr>
              <a:t>A first-class procedure graph with pre/post-conditions. A Graph-Consistency Auditor catches skip / mis-order / omission errors with ZERO error labels — side-stepping scarcity.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74519"/>
            <a:ext cx="3520440" cy="2057400"/>
          </a:xfrm>
          <a:prstGeom prst="roundRect">
            <a:avLst>
              <a:gd name="adj" fmla="val 7000"/>
            </a:avLst>
          </a:prstGeom>
          <a:solidFill>
            <a:srgbClr val="182742"/>
          </a:solidFill>
          <a:ln w="12700">
            <a:solidFill>
              <a:srgbClr val="2A3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99432" y="2130552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9432" y="2121408"/>
            <a:ext cx="4572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093976"/>
            <a:ext cx="2560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Unused state track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807208"/>
            <a:ext cx="306324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CED9EA"/>
                </a:solidFill>
                <a:latin typeface="Calibri"/>
              </a:rPr>
              <a:t>IndustReal's OD_labels part-presence (26,925 dense frames) becomes the observed state the expected-effect residual compares against — a real measurement, not a proxy.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874519"/>
            <a:ext cx="3520440" cy="2057400"/>
          </a:xfrm>
          <a:prstGeom prst="roundRect">
            <a:avLst>
              <a:gd name="adj" fmla="val 7000"/>
            </a:avLst>
          </a:prstGeom>
          <a:solidFill>
            <a:srgbClr val="182742"/>
          </a:solidFill>
          <a:ln w="12700">
            <a:solidFill>
              <a:srgbClr val="2A3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302751" y="2130552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02751" y="2121408"/>
            <a:ext cx="4572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399" y="2093976"/>
            <a:ext cx="2560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VLM as grounded verifier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1" y="2807208"/>
            <a:ext cx="306324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CED9EA"/>
                </a:solidFill>
                <a:latin typeface="Calibri"/>
              </a:rPr>
              <a:t>Given before/after frames + expected-vs-observed state, the VLM verifies 'correct way' where frozen linear probes are at chance — a genuinely un-exhausted lever.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114800"/>
            <a:ext cx="3520440" cy="2057400"/>
          </a:xfrm>
          <a:prstGeom prst="roundRect">
            <a:avLst>
              <a:gd name="adj" fmla="val 7000"/>
            </a:avLst>
          </a:prstGeom>
          <a:solidFill>
            <a:srgbClr val="182742"/>
          </a:solidFill>
          <a:ln w="12700">
            <a:solidFill>
              <a:srgbClr val="2A3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96112" y="4370832"/>
            <a:ext cx="457200" cy="457200"/>
          </a:xfrm>
          <a:prstGeom prst="ellipse">
            <a:avLst/>
          </a:prstGeom>
          <a:solidFill>
            <a:srgbClr val="0EA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" y="4361688"/>
            <a:ext cx="4572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334256"/>
            <a:ext cx="2560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REMOVE as a recovery signal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5047488"/>
            <a:ext cx="306324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CED9EA"/>
                </a:solidFill>
                <a:latin typeface="Calibri"/>
              </a:rPr>
              <a:t>REMOVE is NOT data-limited (~69% recall). Promote it to a first-class channel — it is literally a recovery action and seeds the recovery planner.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4114800"/>
            <a:ext cx="3520440" cy="2057400"/>
          </a:xfrm>
          <a:prstGeom prst="roundRect">
            <a:avLst>
              <a:gd name="adj" fmla="val 7000"/>
            </a:avLst>
          </a:prstGeom>
          <a:solidFill>
            <a:srgbClr val="182742"/>
          </a:solidFill>
          <a:ln w="12700">
            <a:solidFill>
              <a:srgbClr val="2A3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599432" y="4370832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99432" y="4361688"/>
            <a:ext cx="4572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4334256"/>
            <a:ext cx="2560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Recovery planner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047488"/>
            <a:ext cx="306324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CED9EA"/>
                </a:solidFill>
                <a:latin typeface="Calibri"/>
              </a:rPr>
              <a:t>On a confirmed fault, search the graph for the shortest safe path back to a valid state; the VLM narrates but cannot invent unapproved operations.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19" y="4114800"/>
            <a:ext cx="3520440" cy="2057400"/>
          </a:xfrm>
          <a:prstGeom prst="roundRect">
            <a:avLst>
              <a:gd name="adj" fmla="val 7000"/>
            </a:avLst>
          </a:prstGeom>
          <a:solidFill>
            <a:srgbClr val="182742"/>
          </a:solidFill>
          <a:ln w="12700">
            <a:solidFill>
              <a:srgbClr val="2A3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302751" y="4370832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02751" y="4361688"/>
            <a:ext cx="4572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399" y="4334256"/>
            <a:ext cx="2560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3-D / orientation evidence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2751" y="5047488"/>
            <a:ext cx="306324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CED9EA"/>
                </a:solidFill>
                <a:latin typeface="Calibri"/>
              </a:rPr>
              <a:t>The one untested lever for the spatial-fault regime that no 2-D feature can see — the long pole for IndustReal-style geometry faults.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 i="0">
                <a:solidFill>
                  <a:srgbClr val="1A2333"/>
                </a:solidFill>
                <a:latin typeface="Cambria"/>
              </a:rPr>
              <a:t>Designing the engine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12471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forthcoming self-collected engine-assembly capture is the real target. IndustReal failed at 19 errors; CaptainCook4D worked at 1,683. Collect for that.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  <a:latin typeface="Calibri"/>
              </a:rPr>
              <a:t>HOW MUCH — plan for the error budget, not just hours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2606040" cy="123444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2167128"/>
            <a:ext cx="22860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 i="0">
                <a:solidFill>
                  <a:srgbClr val="0EA59E"/>
                </a:solidFill>
                <a:latin typeface="Cambria"/>
              </a:rPr>
              <a:t>150–400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734056"/>
            <a:ext cx="22860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A2333"/>
                </a:solidFill>
                <a:latin typeface="Calibri"/>
              </a:rPr>
              <a:t>recordings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008376"/>
            <a:ext cx="2331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≥ CaptainCook4D-scale coverage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057400"/>
            <a:ext cx="2606040" cy="123444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66160" y="2167128"/>
            <a:ext cx="22860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 i="0">
                <a:solidFill>
                  <a:srgbClr val="0EA59E"/>
                </a:solidFill>
                <a:latin typeface="Cambria"/>
              </a:rPr>
              <a:t>≥ 8–10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734056"/>
            <a:ext cx="22860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A2333"/>
                </a:solidFill>
                <a:latin typeface="Calibri"/>
              </a:rPr>
              <a:t>operators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008376"/>
            <a:ext cx="2331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for person-disjoint evaluation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29000"/>
            <a:ext cx="2606040" cy="123444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59" y="3538728"/>
            <a:ext cx="22860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 i="0">
                <a:solidFill>
                  <a:srgbClr val="0EA59E"/>
                </a:solidFill>
                <a:latin typeface="Cambria"/>
              </a:rPr>
              <a:t>≥ 1,000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105656"/>
            <a:ext cx="22860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A2333"/>
                </a:solidFill>
                <a:latin typeface="Calibri"/>
              </a:rPr>
              <a:t>labeled error instances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4379976"/>
            <a:ext cx="2331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≥300 floor to escape starvation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3429000"/>
            <a:ext cx="2606040" cy="123444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66160" y="3538728"/>
            <a:ext cx="22860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 i="0">
                <a:solidFill>
                  <a:srgbClr val="0EA59E"/>
                </a:solidFill>
                <a:latin typeface="Cambria"/>
              </a:rPr>
              <a:t>~30%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4105656"/>
            <a:ext cx="22860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A2333"/>
                </a:solidFill>
                <a:latin typeface="Calibri"/>
              </a:rPr>
              <a:t>step error prevalence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4379976"/>
            <a:ext cx="2331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stage mistakes deliberately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983480"/>
            <a:ext cx="548640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A2333"/>
                </a:solidFill>
                <a:latin typeface="Calibri"/>
              </a:rPr>
              <a:t>Balance across fault families </a:t>
            </a:r>
            <a:r>
              <a:rPr sz="1200" b="0" i="0">
                <a:solidFill>
                  <a:srgbClr val="454F60"/>
                </a:solidFill>
                <a:latin typeface="Calibri"/>
              </a:rPr>
              <a:t>— aim for a few hundred instances per major type (wrong part, wrong orientation, wrong order, omission, wrong tool). Rare-per-type is what killed IndustReal, not total hours.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1783080"/>
            <a:ext cx="5257800" cy="4480560"/>
          </a:xfrm>
          <a:prstGeom prst="roundRect">
            <a:avLst>
              <a:gd name="adj" fmla="val 5000"/>
            </a:avLst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20840" y="2011680"/>
            <a:ext cx="46634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mbria"/>
              </a:rPr>
              <a:t>Labeling to add (Hand Atlas)</a:t>
            </a:r>
          </a:p>
        </p:txBody>
      </p:sp>
      <p:sp>
        <p:nvSpPr>
          <p:cNvPr id="25" name="Oval 24"/>
          <p:cNvSpPr/>
          <p:nvPr/>
        </p:nvSpPr>
        <p:spPr>
          <a:xfrm>
            <a:off x="6766560" y="2642616"/>
            <a:ext cx="310896" cy="310896"/>
          </a:xfrm>
          <a:prstGeom prst="ellipse">
            <a:avLst/>
          </a:prstGeom>
          <a:solidFill>
            <a:srgbClr val="0EA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66560" y="2633472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2551176"/>
            <a:ext cx="42062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Coarse STEP timeline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2880360"/>
            <a:ext cx="4206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CED9EA"/>
                </a:solidFill>
                <a:latin typeface="Calibri"/>
              </a:rPr>
              <a:t>~10–20 well-separated steps — the achievable ~80% target</a:t>
            </a:r>
          </a:p>
        </p:txBody>
      </p:sp>
      <p:sp>
        <p:nvSpPr>
          <p:cNvPr id="29" name="Oval 28"/>
          <p:cNvSpPr/>
          <p:nvPr/>
        </p:nvSpPr>
        <p:spPr>
          <a:xfrm>
            <a:off x="6766560" y="3246120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66560" y="3236976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3154680"/>
            <a:ext cx="42062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Per-completion TYPE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3483864"/>
            <a:ext cx="4206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CED9EA"/>
                </a:solidFill>
                <a:latin typeface="Calibri"/>
              </a:rPr>
              <a:t>correct / incorrect / remove, at the annotated instant</a:t>
            </a:r>
          </a:p>
        </p:txBody>
      </p:sp>
      <p:sp>
        <p:nvSpPr>
          <p:cNvPr id="33" name="Oval 32"/>
          <p:cNvSpPr/>
          <p:nvPr/>
        </p:nvSpPr>
        <p:spPr>
          <a:xfrm>
            <a:off x="6766560" y="3849624"/>
            <a:ext cx="310896" cy="310896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766560" y="3840480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3758184"/>
            <a:ext cx="42062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Error family + free-text description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4087368"/>
            <a:ext cx="4206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CED9EA"/>
                </a:solidFill>
                <a:latin typeface="Calibri"/>
              </a:rPr>
              <a:t>the ground truth the VLM attribution is scored against</a:t>
            </a:r>
          </a:p>
        </p:txBody>
      </p:sp>
      <p:sp>
        <p:nvSpPr>
          <p:cNvPr id="37" name="Oval 36"/>
          <p:cNvSpPr/>
          <p:nvPr/>
        </p:nvSpPr>
        <p:spPr>
          <a:xfrm>
            <a:off x="6766560" y="4453128"/>
            <a:ext cx="310896" cy="310896"/>
          </a:xfrm>
          <a:prstGeom prst="ellipse">
            <a:avLst/>
          </a:prstGeom>
          <a:solidFill>
            <a:srgbClr val="0EA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766560" y="4443984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4361688"/>
            <a:ext cx="42062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Assembly-STATE track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23760" y="4690872"/>
            <a:ext cx="4206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CED9EA"/>
                </a:solidFill>
                <a:latin typeface="Calibri"/>
              </a:rPr>
              <a:t>per-frame part-presence → data-free order/skip auditing</a:t>
            </a:r>
          </a:p>
        </p:txBody>
      </p:sp>
      <p:sp>
        <p:nvSpPr>
          <p:cNvPr id="41" name="Oval 40"/>
          <p:cNvSpPr/>
          <p:nvPr/>
        </p:nvSpPr>
        <p:spPr>
          <a:xfrm>
            <a:off x="6766560" y="5056632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766560" y="5047488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0" y="4965192"/>
            <a:ext cx="42062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3-D / orientation flag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60" y="5294376"/>
            <a:ext cx="4206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CED9EA"/>
                </a:solidFill>
                <a:latin typeface="Calibri"/>
              </a:rPr>
              <a:t>where a fault is a pose property — the spatial lever</a:t>
            </a:r>
          </a:p>
        </p:txBody>
      </p:sp>
      <p:sp>
        <p:nvSpPr>
          <p:cNvPr id="45" name="Oval 44"/>
          <p:cNvSpPr/>
          <p:nvPr/>
        </p:nvSpPr>
        <p:spPr>
          <a:xfrm>
            <a:off x="6766560" y="5660136"/>
            <a:ext cx="310896" cy="310896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766560" y="5650992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23760" y="5568696"/>
            <a:ext cx="42062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Recovery action sequence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23760" y="5897880"/>
            <a:ext cx="4206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CED9EA"/>
                </a:solidFill>
                <a:latin typeface="Calibri"/>
              </a:rPr>
              <a:t>the correcting steps after a mistake → trains recovery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1707</Words>
  <Application>Microsoft Office PowerPoint</Application>
  <PresentationFormat>Widescreen</PresentationFormat>
  <Paragraphs>262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Nahom Tesfu</cp:lastModifiedBy>
  <cp:revision>2</cp:revision>
  <dcterms:created xsi:type="dcterms:W3CDTF">2013-01-27T09:14:16Z</dcterms:created>
  <dcterms:modified xsi:type="dcterms:W3CDTF">2026-07-28T12:57:01Z</dcterms:modified>
  <cp:category/>
</cp:coreProperties>
</file>